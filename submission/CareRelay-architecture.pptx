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snapshot: main at cff526f66696574c538747b432603e5401ec26b8. Date: 16 October 2026.</a:t>
            </a:r>
          </a:p>
          <a:p>
            <a:r>
              <a:t>Repository evidence only. Recorded test results are not a new test run. Hosted deployment is not verified by this deck.</a:t>
            </a:r>
          </a:p>
          <a:p>
            <a:r>
              <a:t>NTU LKCMedicine is the challenge credit only. It is not a care provider or integration partner.</a:t>
            </a:r>
          </a:p>
          <a:p>
            <a:r>
              <a:t>Sources:</a:t>
            </a:r>
          </a:p>
          <a:p>
            <a:r>
              <a:t>docs/plans/urgent-advice-accessibility/00-status.md:115</a:t>
            </a:r>
          </a:p>
          <a:p>
            <a:r>
              <a:t>docs/plans/urgent-advice-accessibility/00-status.md:124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snapshot: main at cff526f66696574c538747b432603e5401ec26b8. Date: 16 October 2026.</a:t>
            </a:r>
          </a:p>
          <a:p>
            <a:r>
              <a:t>Repository evidence only. Recorded test results are not a new test run. Hosted deployment is not verified by this deck.</a:t>
            </a:r>
          </a:p>
          <a:p>
            <a:r>
              <a:t>The old submission description and honest-claims files predate the emergency screen. The latest safety-check receipt and assessSafety implementation supersede their earlier no-warning-sign-detection wording. No clinically calibrated triage is claimed.</a:t>
            </a:r>
          </a:p>
          <a:p>
            <a:r>
              <a:t>Sources:</a:t>
            </a:r>
          </a:p>
          <a:p>
            <a:r>
              <a:t>submission/description.md:7</a:t>
            </a:r>
          </a:p>
          <a:p>
            <a:r>
              <a:t>docs/plans/urgent-advice-accessibility/00-status.md:60</a:t>
            </a:r>
          </a:p>
          <a:p>
            <a:r>
              <a:t>docs/plans/urgent-advice-accessibility/02-architecture.md:676</a:t>
            </a:r>
          </a:p>
          <a:p>
            <a:r>
              <a:t>submission/honest-claims.md:54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snapshot: main at cff526f66696574c538747b432603e5401ec26b8. Date: 16 October 2026.</a:t>
            </a:r>
          </a:p>
          <a:p>
            <a:r>
              <a:t>Repository evidence only. Recorded test results are not a new test run. Hosted deployment is not verified by this deck.</a:t>
            </a:r>
          </a:p>
          <a:p>
            <a:r>
              <a:t>This is the source architecture, not a claim that every current commit is hosted. The database move to Virginia is a recorded production observation. Render region is unknown: render.yaml declares singapore for initial creation only. The simulated provider is in the API process, not an external healthcare service. A reservation commits before the worker-thread transport opens. This placement follows the implemented Slice 24 deviation, not the older transport-owned draft.</a:t>
            </a:r>
          </a:p>
          <a:p>
            <a:r>
              <a:t>Sources:</a:t>
            </a:r>
          </a:p>
          <a:p>
            <a:r>
              <a:t>frontend/lib/api.ts:1</a:t>
            </a:r>
          </a:p>
          <a:p>
            <a:r>
              <a:t>render.yaml:19</a:t>
            </a:r>
          </a:p>
          <a:p>
            <a:r>
              <a:t>render.yaml:27</a:t>
            </a:r>
          </a:p>
          <a:p>
            <a:r>
              <a:t>docs/plans/urgent-advice-accessibility/00-status.md:151</a:t>
            </a:r>
          </a:p>
          <a:p>
            <a:r>
              <a:t>docs/plans/urgent-advice-accessibility/00-status.md:28</a:t>
            </a:r>
          </a:p>
          <a:p>
            <a:r>
              <a:t>src/carerelay/adp_extraction.py:799</a:t>
            </a:r>
          </a:p>
          <a:p>
            <a:r>
              <a:t>src/carerelay/api.py:415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snapshot: main at cff526f66696574c538747b432603e5401ec26b8. Date: 16 October 2026.</a:t>
            </a:r>
          </a:p>
          <a:p>
            <a:r>
              <a:t>Repository evidence only. Recorded test results are not a new test run. Hosted deployment is not verified by this deck.</a:t>
            </a:r>
          </a:p>
          <a:p>
            <a:r>
              <a:t>AppKey is server-held but does leave Render in the HTTPS authentication envelope to Tencent. Saying it never leaves Render would be false. It is explicitly excluded from the prompt, and values are never reproduced here. The bearer token is shared between Vercel and Render. Zone F is a logical simulated-adapter boundary, not a network hop. Safety evaluation also happens on device; journey, permissions, comparison and closure decisions are made by API code. Runtime leak checks do not mean Git history is free of credentials; the history issue is disclosed on slide 8. No real-patient isolation claim follows from the shared bearer token.</a:t>
            </a:r>
          </a:p>
          <a:p>
            <a:r>
              <a:t>Sources:</a:t>
            </a:r>
          </a:p>
          <a:p>
            <a:r>
              <a:t>frontend/lib/api.ts:1</a:t>
            </a:r>
          </a:p>
          <a:p>
            <a:r>
              <a:t>src/carerelay/adp_extraction.py:786</a:t>
            </a:r>
          </a:p>
          <a:p>
            <a:r>
              <a:t>src/carerelay/adp_extraction.py:782</a:t>
            </a:r>
          </a:p>
          <a:p>
            <a:r>
              <a:t>docs/plans/urgent-advice-accessibility/02-architecture.md:696</a:t>
            </a:r>
          </a:p>
          <a:p>
            <a:r>
              <a:t>docs/plans/urgent-advice-accessibility/00-status.md:73</a:t>
            </a:r>
          </a:p>
          <a:p>
            <a:r>
              <a:t>submission/honest-claims.md:100</a:t>
            </a:r>
          </a:p>
          <a:p>
            <a:r>
              <a:t>docs/plans/urgent-advice-accessibility/00-status.md:41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snapshot: main at cff526f66696574c538747b432603e5401ec26b8. Date: 16 October 2026.</a:t>
            </a:r>
          </a:p>
          <a:p>
            <a:r>
              <a:t>Repository evidence only. Recorded test results are not a new test run. Hosted deployment is not verified by this deck.</a:t>
            </a:r>
          </a:p>
          <a:p>
            <a:r>
              <a:t>The three model phrase fields are nullable. Code locates exact word-bounded source occurrences and preserves uncertainty. Current code widens a grounded bare first-person I to a continuing commitment when appropriate; the stored result remains an exact slice of saved words. This does not create a clinical comprehension score. No payload examples or model outputs are reproduced in this deck. The guard precedes the ADP copy step.</a:t>
            </a:r>
          </a:p>
          <a:p>
            <a:r>
              <a:t>Sources:</a:t>
            </a:r>
          </a:p>
          <a:p>
            <a:r>
              <a:t>docs/plans/urgent-advice-accessibility/02-architecture.md:676</a:t>
            </a:r>
          </a:p>
          <a:p>
            <a:r>
              <a:t>src/carerelay/adp_extraction.py:826</a:t>
            </a:r>
          </a:p>
          <a:p>
            <a:r>
              <a:t>src/carerelay/adp_extraction.py:750</a:t>
            </a:r>
          </a:p>
          <a:p>
            <a:r>
              <a:t>docs/plans/urgent-advice-accessibility/00-status.md:9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snapshot: main at cff526f66696574c538747b432603e5401ec26b8. Date: 16 October 2026.</a:t>
            </a:r>
          </a:p>
          <a:p>
            <a:r>
              <a:t>Repository evidence only. Recorded test results are not a new test run. Hosted deployment is not verified by this deck.</a:t>
            </a:r>
          </a:p>
          <a:p>
            <a:r>
              <a:t>The actual execution order puts the reservation guard before extraction and refusal, rather than after closure. The question flow validates all four answers before assessing them. No network sits on the safety-check decision path. Unknown or unmeasurable answers can still open the fictional plan, with an explicit unchecked warning; they are never silently treated as clear. There is no clinical reviewer. Halting categories are invalid, timeout, transport and lost. A structured refusal, a ceiling or a guard refusal does not itself create a halt. An unfinished reservation blocks later sends. Postgres guard execution and race remain unproven.</a:t>
            </a:r>
          </a:p>
          <a:p>
            <a:r>
              <a:t>Sources:</a:t>
            </a:r>
          </a:p>
          <a:p>
            <a:r>
              <a:t>docs/plans/urgent-advice-accessibility/00-status.md:60</a:t>
            </a:r>
          </a:p>
          <a:p>
            <a:r>
              <a:t>frontend/lib/journey.ts:423</a:t>
            </a:r>
          </a:p>
          <a:p>
            <a:r>
              <a:t>docs/plans/urgent-advice-accessibility/00-status.md:24</a:t>
            </a:r>
          </a:p>
          <a:p>
            <a:r>
              <a:t>docs/plans/urgent-advice-accessibility/00-status.md:55</a:t>
            </a:r>
          </a:p>
          <a:p>
            <a:r>
              <a:t>docs/plans/urgent-advice-accessibility/02-architecture.md:938</a:t>
            </a:r>
          </a:p>
          <a:p>
            <a:r>
              <a:t>submission/description.md:107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snapshot: main at cff526f66696574c538747b432603e5401ec26b8. Date: 16 October 2026.</a:t>
            </a:r>
          </a:p>
          <a:p>
            <a:r>
              <a:t>Repository evidence only. Recorded test results are not a new test run. Hosted deployment is not verified by this deck.</a:t>
            </a:r>
          </a:p>
          <a:p>
            <a:r>
              <a:t>The architecture request described moving the database next to the API. The source records a Virginia database and improved production latency, but does not verify the active Render region. The slide therefore records the move and the observed problem without asserting physical colocation. Cold-start costs are documented in render.yaml. Statements about more checkable decisions and limited rule coverage are architectural trade-off assessments, not measured clinical outcomes.</a:t>
            </a:r>
          </a:p>
          <a:p>
            <a:r>
              <a:t>Sources:</a:t>
            </a:r>
          </a:p>
          <a:p>
            <a:r>
              <a:t>submission/description.md:198</a:t>
            </a:r>
          </a:p>
          <a:p>
            <a:r>
              <a:t>docs/plans/urgent-advice-accessibility/02-architecture.md:981</a:t>
            </a:r>
          </a:p>
          <a:p>
            <a:r>
              <a:t>docs/plans/urgent-advice-accessibility/00-status.md:73</a:t>
            </a:r>
          </a:p>
          <a:p>
            <a:r>
              <a:t>docs/plans/urgent-advice-accessibility/00-status.md:150</a:t>
            </a:r>
          </a:p>
          <a:p>
            <a:r>
              <a:t>docs/plans/urgent-advice-accessibility/00-status.md:153</a:t>
            </a:r>
          </a:p>
          <a:p>
            <a:r>
              <a:t>render.yaml:27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snapshot: main at cff526f66696574c538747b432603e5401ec26b8. Date: 16 October 2026.</a:t>
            </a:r>
          </a:p>
          <a:p>
            <a:r>
              <a:t>Repository evidence only. Recorded test results are not a new test run. Hosted deployment is not verified by this deck.</a:t>
            </a:r>
          </a:p>
          <a:p>
            <a:r>
              <a:t>2,296 passed, 233 skipped and one existing warning are the latest recorded bare-I fix suite result, not a new run performed while creating the deck. The 27/27 mutation result belongs to the Slice 24 guard suite and means every tested mutation was detected, with exact restores. It is not whole-project mutation coverage. Leak evidence is bounded captured surfaces, not a general security certification. Earlier append-only Postgres evidence does not prove the new reservation guard or its race. Single-persona scope follows the fixed Mei fixture; there has been no participant or subgroup validation. Historical credential values are never reproduced in this deck.</a:t>
            </a:r>
          </a:p>
          <a:p>
            <a:r>
              <a:t>Sources:</a:t>
            </a:r>
          </a:p>
          <a:p>
            <a:r>
              <a:t>docs/plans/urgent-advice-accessibility/00-status.md:15</a:t>
            </a:r>
          </a:p>
          <a:p>
            <a:r>
              <a:t>docs/plans/urgent-advice-accessibility/00-status.md:36</a:t>
            </a:r>
          </a:p>
          <a:p>
            <a:r>
              <a:t>docs/plans/urgent-advice-accessibility/00-status.md:41</a:t>
            </a:r>
          </a:p>
          <a:p>
            <a:r>
              <a:t>docs/plans/urgent-advice-accessibility/00-status.md:38</a:t>
            </a:r>
          </a:p>
          <a:p>
            <a:r>
              <a:t>docs/plans/urgent-advice-accessibility/02-architecture.md:979</a:t>
            </a:r>
          </a:p>
          <a:p>
            <a:r>
              <a:t>submission/honest-claims.md:92</a:t>
            </a:r>
          </a:p>
          <a:p>
            <a:r>
              <a:t>submission/honest-claims.md:50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snapshot: main at cff526f66696574c538747b432603e5401ec26b8. Date: 16 October 2026.</a:t>
            </a:r>
          </a:p>
          <a:p>
            <a:r>
              <a:t>Repository evidence only. Recorded test results are not a new test run. Hosted deployment is not verified by this deck.</a:t>
            </a:r>
          </a:p>
          <a:p>
            <a:r>
              <a:t>This is a demonstration sequence, not a new live-call claim. Read the top row left to right, then the lower row right to left. A structured refusal is an optional branch, followed by a revised read-back, not an automatically completed stage. Nurse helpline is the fixed fallback text, not a connected service or a completed handoff. The simulated provider is local-sim and cannot establish care evidence. The safety check is outside the ledger and panel. The scripted reply is separate from the dispatch and is configured on by default for public environments.</a:t>
            </a:r>
          </a:p>
          <a:p>
            <a:r>
              <a:t>Sources:</a:t>
            </a:r>
          </a:p>
          <a:p>
            <a:r>
              <a:t>docs/plans/urgent-advice-accessibility/00-status.md:28</a:t>
            </a:r>
          </a:p>
          <a:p>
            <a:r>
              <a:t>docs/plans/urgent-advice-accessibility/00-status.md:29</a:t>
            </a:r>
          </a:p>
          <a:p>
            <a:r>
              <a:t>docs/plans/urgent-advice-accessibility/00-status.md:213</a:t>
            </a:r>
          </a:p>
          <a:p>
            <a:r>
              <a:t>docs/plans/urgent-advice-accessibility/00-status.md:73</a:t>
            </a:r>
          </a:p>
          <a:p>
            <a:r>
              <a:t>submission/description.md:170</a:t>
            </a:r>
          </a:p>
          <a:p>
            <a:r>
              <a:t>docs/plans/urgent-advice-accessibility/02-architecture.md:852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5F2"/>
        </a:solidFill>
        <a:effectLst/>
      </p:bgPr>
    </p:bg>
    <p:spTree>
      <p:nvGrpSpPr>
        <p:cNvPr id="1" name=""/>
        <p:cNvGrpSpPr/>
        <p:nvPr/>
      </p:nvGrpSpPr>
      <p:grpSpPr/>
      <p:cxnSp>
        <p:nvCxnSpPr>
          <p:cNvPr id="3" name="Editable connector"/>
          <p:cNvCxnSpPr/>
          <p:nvPr/>
        </p:nvCxnSpPr>
        <p:spPr>
          <a:xfrm>
            <a:off x="548640" y="7818120"/>
            <a:ext cx="13533120" cy="0"/>
          </a:xfrm>
          <a:prstGeom prst="line">
            <a:avLst/>
          </a:prstGeom>
          <a:ln w="12700">
            <a:solidFill>
              <a:srgbClr val="D3D9D4"/>
            </a:solidFill>
          </a:ln>
          <a:effectLst/>
        </p:spPr>
        <p:style>
          <a:lnRef idx="2">
            <a:schemeClr val="accent1"/>
          </a:lnRef>
          <a:fillRef idx="0">
            <a:schemeClr val="accent1"/>
          </a:fillRef>
          <a:effectRef idx="0">
            <a:schemeClr val="accent1"/>
          </a:effectRef>
          <a:fontRef idx="minor">
            <a:schemeClr val="tx1"/>
          </a:fontRef>
        </p:style>
      </p:cxnSp>
      <p:sp>
        <p:nvSpPr>
          <p:cNvPr id="4" name="Simulated demo. Not medical advice."/>
          <p:cNvSpPr txBox="1"/>
          <p:nvPr/>
        </p:nvSpPr>
        <p:spPr>
          <a:xfrm>
            <a:off x="566928" y="7936992"/>
            <a:ext cx="10972800" cy="228600"/>
          </a:xfrm>
          <a:prstGeom prst="rect">
            <a:avLst/>
          </a:prstGeom>
          <a:noFill/>
        </p:spPr>
        <p:txBody>
          <a:bodyPr wrap="none" lIns="0" rIns="0" tIns="0" bIns="0" anchor="t">
            <a:noAutofit/>
          </a:bodyPr>
          <a:lstStyle/>
          <a:p>
            <a:pPr algn="l">
              <a:lnSpc>
                <a:spcPct val="110000"/>
              </a:lnSpc>
              <a:spcBef>
                <a:spcPts val="0"/>
              </a:spcBef>
              <a:spcAft>
                <a:spcPts val="0"/>
              </a:spcAft>
              <a:defRPr sz="1400" b="0">
                <a:solidFill>
                  <a:srgbClr val="4F5866"/>
                </a:solidFill>
                <a:latin typeface="Arial"/>
              </a:defRPr>
            </a:pPr>
            <a:r>
              <a:t>Simulated demo. Not medical advice.</a:t>
            </a:r>
          </a:p>
        </p:txBody>
      </p:sp>
      <p:sp>
        <p:nvSpPr>
          <p:cNvPr id="5" name="1"/>
          <p:cNvSpPr txBox="1"/>
          <p:nvPr/>
        </p:nvSpPr>
        <p:spPr>
          <a:xfrm>
            <a:off x="13487400" y="7936992"/>
            <a:ext cx="566928" cy="228600"/>
          </a:xfrm>
          <a:prstGeom prst="rect">
            <a:avLst/>
          </a:prstGeom>
          <a:noFill/>
        </p:spPr>
        <p:txBody>
          <a:bodyPr wrap="none" lIns="0" rIns="0" tIns="0" bIns="0" anchor="t">
            <a:noAutofit/>
          </a:bodyPr>
          <a:lstStyle/>
          <a:p>
            <a:pPr algn="r">
              <a:lnSpc>
                <a:spcPct val="110000"/>
              </a:lnSpc>
              <a:spcBef>
                <a:spcPts val="0"/>
              </a:spcBef>
              <a:spcAft>
                <a:spcPts val="0"/>
              </a:spcAft>
              <a:defRPr sz="1400" b="0">
                <a:solidFill>
                  <a:srgbClr val="4F5866"/>
                </a:solidFill>
                <a:latin typeface="Arial"/>
              </a:defRPr>
            </a:pPr>
            <a:r>
              <a:t>1</a:t>
            </a:r>
          </a:p>
        </p:txBody>
      </p:sp>
      <p:sp>
        <p:nvSpPr>
          <p:cNvPr id="6" name="Slide title"/>
          <p:cNvSpPr txBox="1"/>
          <p:nvPr/>
        </p:nvSpPr>
        <p:spPr>
          <a:xfrm>
            <a:off x="640080" y="1901952"/>
            <a:ext cx="13258800" cy="1078992"/>
          </a:xfrm>
          <a:prstGeom prst="rect">
            <a:avLst/>
          </a:prstGeom>
          <a:noFill/>
        </p:spPr>
        <p:txBody>
          <a:bodyPr wrap="none" lIns="0" rIns="0" tIns="0" bIns="0" anchor="t">
            <a:noAutofit/>
          </a:bodyPr>
          <a:lstStyle/>
          <a:p>
            <a:pPr algn="l">
              <a:lnSpc>
                <a:spcPct val="110000"/>
              </a:lnSpc>
              <a:spcBef>
                <a:spcPts val="0"/>
              </a:spcBef>
              <a:spcAft>
                <a:spcPts val="0"/>
              </a:spcAft>
              <a:defRPr sz="5800" b="1">
                <a:solidFill>
                  <a:srgbClr val="1B2230"/>
                </a:solidFill>
                <a:latin typeface="Arial"/>
              </a:defRPr>
            </a:pPr>
            <a:r>
              <a:t>CareRelay: architecture</a:t>
            </a:r>
          </a:p>
        </p:txBody>
      </p:sp>
      <p:sp>
        <p:nvSpPr>
          <p:cNvPr id="7" name="Built for the NTU LKCMedicine challenge"/>
          <p:cNvSpPr txBox="1"/>
          <p:nvPr/>
        </p:nvSpPr>
        <p:spPr>
          <a:xfrm>
            <a:off x="685800" y="3182112"/>
            <a:ext cx="12801600" cy="548640"/>
          </a:xfrm>
          <a:prstGeom prst="rect">
            <a:avLst/>
          </a:prstGeom>
          <a:noFill/>
        </p:spPr>
        <p:txBody>
          <a:bodyPr wrap="none" lIns="0" rIns="0" tIns="0" bIns="0" anchor="t">
            <a:noAutofit/>
          </a:bodyPr>
          <a:lstStyle/>
          <a:p>
            <a:pPr algn="l">
              <a:lnSpc>
                <a:spcPct val="110000"/>
              </a:lnSpc>
              <a:spcBef>
                <a:spcPts val="0"/>
              </a:spcBef>
              <a:spcAft>
                <a:spcPts val="0"/>
              </a:spcAft>
              <a:defRPr sz="2900" b="0">
                <a:solidFill>
                  <a:srgbClr val="4F5866"/>
                </a:solidFill>
                <a:latin typeface="Arial"/>
              </a:defRPr>
            </a:pPr>
            <a:r>
              <a:t>Built for the NTU LKCMedicine challenge</a:t>
            </a:r>
          </a:p>
        </p:txBody>
      </p:sp>
      <p:sp>
        <p:nvSpPr>
          <p:cNvPr id="8" name="Architecture, trust boundaries and key design trade-off"/>
          <p:cNvSpPr txBox="1"/>
          <p:nvPr/>
        </p:nvSpPr>
        <p:spPr>
          <a:xfrm>
            <a:off x="685800" y="4791456"/>
            <a:ext cx="12618720" cy="914400"/>
          </a:xfrm>
          <a:prstGeom prst="rect">
            <a:avLst/>
          </a:prstGeom>
          <a:noFill/>
        </p:spPr>
        <p:txBody>
          <a:bodyPr wrap="none" lIns="0" rIns="0" tIns="0" bIns="0" anchor="t">
            <a:noAutofit/>
          </a:bodyPr>
          <a:lstStyle/>
          <a:p>
            <a:pPr algn="l">
              <a:lnSpc>
                <a:spcPct val="110000"/>
              </a:lnSpc>
              <a:spcBef>
                <a:spcPts val="0"/>
              </a:spcBef>
              <a:spcAft>
                <a:spcPts val="0"/>
              </a:spcAft>
              <a:defRPr sz="3000" b="0">
                <a:solidFill>
                  <a:srgbClr val="0D5E4F"/>
                </a:solidFill>
                <a:latin typeface="Arial"/>
              </a:defRPr>
            </a:pPr>
            <a:r>
              <a:t>Architecture, trust boundaries and key design trade-offs</a:t>
            </a:r>
          </a:p>
        </p:txBody>
      </p:sp>
      <p:sp>
        <p:nvSpPr>
          <p:cNvPr id="9" name="16 October 2026"/>
          <p:cNvSpPr txBox="1"/>
          <p:nvPr/>
        </p:nvSpPr>
        <p:spPr>
          <a:xfrm>
            <a:off x="685800" y="6656832"/>
            <a:ext cx="8229600" cy="384048"/>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4F5866"/>
                </a:solidFill>
                <a:latin typeface="Arial"/>
              </a:defRPr>
            </a:pPr>
            <a:r>
              <a:t>16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5F2"/>
        </a:solidFill>
        <a:effectLst/>
      </p:bgPr>
    </p:bg>
    <p:spTree>
      <p:nvGrpSpPr>
        <p:cNvPr id="1" name=""/>
        <p:cNvGrpSpPr/>
        <p:nvPr/>
      </p:nvGrpSpPr>
      <p:grpSpPr/>
      <p:sp>
        <p:nvSpPr>
          <p:cNvPr id="2" name="Slide title"/>
          <p:cNvSpPr txBox="1"/>
          <p:nvPr/>
        </p:nvSpPr>
        <p:spPr>
          <a:xfrm>
            <a:off x="548640" y="384048"/>
            <a:ext cx="13533120" cy="621792"/>
          </a:xfrm>
          <a:prstGeom prst="rect">
            <a:avLst/>
          </a:prstGeom>
          <a:noFill/>
        </p:spPr>
        <p:txBody>
          <a:bodyPr wrap="none" lIns="0" rIns="0" tIns="0" bIns="0" anchor="t">
            <a:noAutofit/>
          </a:bodyPr>
          <a:lstStyle/>
          <a:p>
            <a:pPr algn="l">
              <a:lnSpc>
                <a:spcPct val="110000"/>
              </a:lnSpc>
              <a:spcBef>
                <a:spcPts val="0"/>
              </a:spcBef>
              <a:spcAft>
                <a:spcPts val="0"/>
              </a:spcAft>
              <a:defRPr sz="4000" b="1">
                <a:solidFill>
                  <a:srgbClr val="1B2230"/>
                </a:solidFill>
                <a:latin typeface="Arial"/>
              </a:defRPr>
            </a:pPr>
            <a:r>
              <a:t>The care-navigation part of Challenge 1</a:t>
            </a:r>
          </a:p>
        </p:txBody>
      </p:sp>
      <p:cxnSp>
        <p:nvCxnSpPr>
          <p:cNvPr id="3" name="Editable connector"/>
          <p:cNvCxnSpPr/>
          <p:nvPr/>
        </p:nvCxnSpPr>
        <p:spPr>
          <a:xfrm>
            <a:off x="548640" y="7818120"/>
            <a:ext cx="13533120" cy="0"/>
          </a:xfrm>
          <a:prstGeom prst="line">
            <a:avLst/>
          </a:prstGeom>
          <a:ln w="12700">
            <a:solidFill>
              <a:srgbClr val="D3D9D4"/>
            </a:solidFill>
          </a:ln>
          <a:effectLst/>
        </p:spPr>
        <p:style>
          <a:lnRef idx="2">
            <a:schemeClr val="accent1"/>
          </a:lnRef>
          <a:fillRef idx="0">
            <a:schemeClr val="accent1"/>
          </a:fillRef>
          <a:effectRef idx="0">
            <a:schemeClr val="accent1"/>
          </a:effectRef>
          <a:fontRef idx="minor">
            <a:schemeClr val="tx1"/>
          </a:fontRef>
        </p:style>
      </p:cxnSp>
      <p:sp>
        <p:nvSpPr>
          <p:cNvPr id="4" name="Simulated demo. Not medical advice."/>
          <p:cNvSpPr txBox="1"/>
          <p:nvPr/>
        </p:nvSpPr>
        <p:spPr>
          <a:xfrm>
            <a:off x="566928" y="7936992"/>
            <a:ext cx="10972800" cy="228600"/>
          </a:xfrm>
          <a:prstGeom prst="rect">
            <a:avLst/>
          </a:prstGeom>
          <a:noFill/>
        </p:spPr>
        <p:txBody>
          <a:bodyPr wrap="none" lIns="0" rIns="0" tIns="0" bIns="0" anchor="t">
            <a:noAutofit/>
          </a:bodyPr>
          <a:lstStyle/>
          <a:p>
            <a:pPr algn="l">
              <a:lnSpc>
                <a:spcPct val="110000"/>
              </a:lnSpc>
              <a:spcBef>
                <a:spcPts val="0"/>
              </a:spcBef>
              <a:spcAft>
                <a:spcPts val="0"/>
              </a:spcAft>
              <a:defRPr sz="1400" b="0">
                <a:solidFill>
                  <a:srgbClr val="4F5866"/>
                </a:solidFill>
                <a:latin typeface="Arial"/>
              </a:defRPr>
            </a:pPr>
            <a:r>
              <a:t>Simulated demo. Not medical advice.</a:t>
            </a:r>
          </a:p>
        </p:txBody>
      </p:sp>
      <p:sp>
        <p:nvSpPr>
          <p:cNvPr id="5" name="2"/>
          <p:cNvSpPr txBox="1"/>
          <p:nvPr/>
        </p:nvSpPr>
        <p:spPr>
          <a:xfrm>
            <a:off x="13487400" y="7936992"/>
            <a:ext cx="566928" cy="228600"/>
          </a:xfrm>
          <a:prstGeom prst="rect">
            <a:avLst/>
          </a:prstGeom>
          <a:noFill/>
        </p:spPr>
        <p:txBody>
          <a:bodyPr wrap="none" lIns="0" rIns="0" tIns="0" bIns="0" anchor="t">
            <a:noAutofit/>
          </a:bodyPr>
          <a:lstStyle/>
          <a:p>
            <a:pPr algn="r">
              <a:lnSpc>
                <a:spcPct val="110000"/>
              </a:lnSpc>
              <a:spcBef>
                <a:spcPts val="0"/>
              </a:spcBef>
              <a:spcAft>
                <a:spcPts val="0"/>
              </a:spcAft>
              <a:defRPr sz="1400" b="0">
                <a:solidFill>
                  <a:srgbClr val="4F5866"/>
                </a:solidFill>
                <a:latin typeface="Arial"/>
              </a:defRPr>
            </a:pPr>
            <a:r>
              <a:t>2</a:t>
            </a:r>
          </a:p>
        </p:txBody>
      </p:sp>
      <p:sp>
        <p:nvSpPr>
          <p:cNvPr id="6" name="Help an older adult act on advice already supplied."/>
          <p:cNvSpPr txBox="1"/>
          <p:nvPr/>
        </p:nvSpPr>
        <p:spPr>
          <a:xfrm>
            <a:off x="594360" y="1463040"/>
            <a:ext cx="13258800" cy="960120"/>
          </a:xfrm>
          <a:prstGeom prst="rect">
            <a:avLst/>
          </a:prstGeom>
          <a:noFill/>
        </p:spPr>
        <p:txBody>
          <a:bodyPr wrap="none" lIns="0" rIns="0" tIns="0" bIns="0" anchor="t">
            <a:noAutofit/>
          </a:bodyPr>
          <a:lstStyle/>
          <a:p>
            <a:pPr algn="l">
              <a:lnSpc>
                <a:spcPct val="110000"/>
              </a:lnSpc>
              <a:spcBef>
                <a:spcPts val="0"/>
              </a:spcBef>
              <a:spcAft>
                <a:spcPts val="0"/>
              </a:spcAft>
              <a:defRPr sz="3800" b="1">
                <a:solidFill>
                  <a:srgbClr val="1B2230"/>
                </a:solidFill>
                <a:latin typeface="Arial"/>
              </a:defRPr>
            </a:pPr>
            <a:r>
              <a:t>Help an older adult act on advice already supplied.</a:t>
            </a:r>
          </a:p>
        </p:txBody>
      </p:sp>
      <p:sp>
        <p:nvSpPr>
          <p:cNvPr id="7" name="1"/>
          <p:cNvSpPr txBox="1"/>
          <p:nvPr/>
        </p:nvSpPr>
        <p:spPr>
          <a:xfrm>
            <a:off x="640080" y="2834640"/>
            <a:ext cx="502920" cy="548640"/>
          </a:xfrm>
          <a:prstGeom prst="rect">
            <a:avLst/>
          </a:prstGeom>
          <a:noFill/>
        </p:spPr>
        <p:txBody>
          <a:bodyPr wrap="none" lIns="0" rIns="0" tIns="0" bIns="0" anchor="t">
            <a:noAutofit/>
          </a:bodyPr>
          <a:lstStyle/>
          <a:p>
            <a:pPr algn="l">
              <a:lnSpc>
                <a:spcPct val="110000"/>
              </a:lnSpc>
              <a:spcBef>
                <a:spcPts val="0"/>
              </a:spcBef>
              <a:spcAft>
                <a:spcPts val="0"/>
              </a:spcAft>
              <a:defRPr sz="3200" b="1">
                <a:solidFill>
                  <a:srgbClr val="0D5E4F"/>
                </a:solidFill>
                <a:latin typeface="Arial"/>
              </a:defRPr>
            </a:pPr>
            <a:r>
              <a:t>1</a:t>
            </a:r>
          </a:p>
        </p:txBody>
      </p:sp>
      <p:sp>
        <p:nvSpPr>
          <p:cNvPr id="8" name="Understand the plan"/>
          <p:cNvSpPr txBox="1"/>
          <p:nvPr/>
        </p:nvSpPr>
        <p:spPr>
          <a:xfrm>
            <a:off x="1417320" y="2834640"/>
            <a:ext cx="5852160" cy="502920"/>
          </a:xfrm>
          <a:prstGeom prst="rect">
            <a:avLst/>
          </a:prstGeom>
          <a:noFill/>
        </p:spPr>
        <p:txBody>
          <a:bodyPr wrap="none" lIns="0" rIns="0" tIns="0" bIns="0" anchor="t">
            <a:noAutofit/>
          </a:bodyPr>
          <a:lstStyle/>
          <a:p>
            <a:pPr algn="l">
              <a:lnSpc>
                <a:spcPct val="110000"/>
              </a:lnSpc>
              <a:spcBef>
                <a:spcPts val="0"/>
              </a:spcBef>
              <a:spcAft>
                <a:spcPts val="0"/>
              </a:spcAft>
              <a:defRPr sz="2800" b="1">
                <a:solidFill>
                  <a:srgbClr val="1B2230"/>
                </a:solidFill>
                <a:latin typeface="Arial"/>
              </a:defRPr>
            </a:pPr>
            <a:r>
              <a:t>Understand the plan</a:t>
            </a:r>
          </a:p>
        </p:txBody>
      </p:sp>
      <p:sp>
        <p:nvSpPr>
          <p:cNvPr id="9" name="Read it back in their own words."/>
          <p:cNvSpPr txBox="1"/>
          <p:nvPr/>
        </p:nvSpPr>
        <p:spPr>
          <a:xfrm>
            <a:off x="1417320" y="3364992"/>
            <a:ext cx="5852160" cy="502920"/>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4F5866"/>
                </a:solidFill>
                <a:latin typeface="Arial"/>
              </a:defRPr>
            </a:pPr>
            <a:r>
              <a:t>Read it back in their own words.</a:t>
            </a:r>
          </a:p>
        </p:txBody>
      </p:sp>
      <p:sp>
        <p:nvSpPr>
          <p:cNvPr id="10" name="2"/>
          <p:cNvSpPr txBox="1"/>
          <p:nvPr/>
        </p:nvSpPr>
        <p:spPr>
          <a:xfrm>
            <a:off x="640080" y="3886200"/>
            <a:ext cx="502920" cy="548640"/>
          </a:xfrm>
          <a:prstGeom prst="rect">
            <a:avLst/>
          </a:prstGeom>
          <a:noFill/>
        </p:spPr>
        <p:txBody>
          <a:bodyPr wrap="none" lIns="0" rIns="0" tIns="0" bIns="0" anchor="t">
            <a:noAutofit/>
          </a:bodyPr>
          <a:lstStyle/>
          <a:p>
            <a:pPr algn="l">
              <a:lnSpc>
                <a:spcPct val="110000"/>
              </a:lnSpc>
              <a:spcBef>
                <a:spcPts val="0"/>
              </a:spcBef>
              <a:spcAft>
                <a:spcPts val="0"/>
              </a:spcAft>
              <a:defRPr sz="3200" b="1">
                <a:solidFill>
                  <a:srgbClr val="0D5E4F"/>
                </a:solidFill>
                <a:latin typeface="Arial"/>
              </a:defRPr>
            </a:pPr>
            <a:r>
              <a:t>2</a:t>
            </a:r>
          </a:p>
        </p:txBody>
      </p:sp>
      <p:sp>
        <p:nvSpPr>
          <p:cNvPr id="11" name="Identify what makes it hard"/>
          <p:cNvSpPr txBox="1"/>
          <p:nvPr/>
        </p:nvSpPr>
        <p:spPr>
          <a:xfrm>
            <a:off x="1417320" y="3886200"/>
            <a:ext cx="5852160" cy="502920"/>
          </a:xfrm>
          <a:prstGeom prst="rect">
            <a:avLst/>
          </a:prstGeom>
          <a:noFill/>
        </p:spPr>
        <p:txBody>
          <a:bodyPr wrap="none" lIns="0" rIns="0" tIns="0" bIns="0" anchor="t">
            <a:noAutofit/>
          </a:bodyPr>
          <a:lstStyle/>
          <a:p>
            <a:pPr algn="l">
              <a:lnSpc>
                <a:spcPct val="110000"/>
              </a:lnSpc>
              <a:spcBef>
                <a:spcPts val="0"/>
              </a:spcBef>
              <a:spcAft>
                <a:spcPts val="0"/>
              </a:spcAft>
              <a:defRPr sz="2800" b="1">
                <a:solidFill>
                  <a:srgbClr val="1B2230"/>
                </a:solidFill>
                <a:latin typeface="Arial"/>
              </a:defRPr>
            </a:pPr>
            <a:r>
              <a:t>Identify what makes it hard</a:t>
            </a:r>
          </a:p>
        </p:txBody>
      </p:sp>
      <p:sp>
        <p:nvSpPr>
          <p:cNvPr id="12" name="Choose a route and ask for consent."/>
          <p:cNvSpPr txBox="1"/>
          <p:nvPr/>
        </p:nvSpPr>
        <p:spPr>
          <a:xfrm>
            <a:off x="1417320" y="4416552"/>
            <a:ext cx="5852160" cy="502920"/>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4F5866"/>
                </a:solidFill>
                <a:latin typeface="Arial"/>
              </a:defRPr>
            </a:pPr>
            <a:r>
              <a:t>Choose a route and ask for consent.</a:t>
            </a:r>
          </a:p>
        </p:txBody>
      </p:sp>
      <p:sp>
        <p:nvSpPr>
          <p:cNvPr id="13" name="3"/>
          <p:cNvSpPr txBox="1"/>
          <p:nvPr/>
        </p:nvSpPr>
        <p:spPr>
          <a:xfrm>
            <a:off x="640080" y="4937760"/>
            <a:ext cx="502920" cy="548640"/>
          </a:xfrm>
          <a:prstGeom prst="rect">
            <a:avLst/>
          </a:prstGeom>
          <a:noFill/>
        </p:spPr>
        <p:txBody>
          <a:bodyPr wrap="none" lIns="0" rIns="0" tIns="0" bIns="0" anchor="t">
            <a:noAutofit/>
          </a:bodyPr>
          <a:lstStyle/>
          <a:p>
            <a:pPr algn="l">
              <a:lnSpc>
                <a:spcPct val="110000"/>
              </a:lnSpc>
              <a:spcBef>
                <a:spcPts val="0"/>
              </a:spcBef>
              <a:spcAft>
                <a:spcPts val="0"/>
              </a:spcAft>
              <a:defRPr sz="3200" b="1">
                <a:solidFill>
                  <a:srgbClr val="0D5E4F"/>
                </a:solidFill>
                <a:latin typeface="Arial"/>
              </a:defRPr>
            </a:pPr>
            <a:r>
              <a:t>3</a:t>
            </a:r>
          </a:p>
        </p:txBody>
      </p:sp>
      <p:sp>
        <p:nvSpPr>
          <p:cNvPr id="14" name="See the actual outcome"/>
          <p:cNvSpPr txBox="1"/>
          <p:nvPr/>
        </p:nvSpPr>
        <p:spPr>
          <a:xfrm>
            <a:off x="1417320" y="4937760"/>
            <a:ext cx="5852160" cy="502920"/>
          </a:xfrm>
          <a:prstGeom prst="rect">
            <a:avLst/>
          </a:prstGeom>
          <a:noFill/>
        </p:spPr>
        <p:txBody>
          <a:bodyPr wrap="none" lIns="0" rIns="0" tIns="0" bIns="0" anchor="t">
            <a:noAutofit/>
          </a:bodyPr>
          <a:lstStyle/>
          <a:p>
            <a:pPr algn="l">
              <a:lnSpc>
                <a:spcPct val="110000"/>
              </a:lnSpc>
              <a:spcBef>
                <a:spcPts val="0"/>
              </a:spcBef>
              <a:spcAft>
                <a:spcPts val="0"/>
              </a:spcAft>
              <a:defRPr sz="2800" b="1">
                <a:solidFill>
                  <a:srgbClr val="1B2230"/>
                </a:solidFill>
                <a:latin typeface="Arial"/>
              </a:defRPr>
            </a:pPr>
            <a:r>
              <a:t>See the actual outcome</a:t>
            </a:r>
          </a:p>
        </p:txBody>
      </p:sp>
      <p:sp>
        <p:nvSpPr>
          <p:cNvPr id="15" name="A failed request stays visible."/>
          <p:cNvSpPr txBox="1"/>
          <p:nvPr/>
        </p:nvSpPr>
        <p:spPr>
          <a:xfrm>
            <a:off x="1417320" y="5468112"/>
            <a:ext cx="5852160" cy="502920"/>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4F5866"/>
                </a:solidFill>
                <a:latin typeface="Arial"/>
              </a:defRPr>
            </a:pPr>
            <a:r>
              <a:t>A failed request stays visible.</a:t>
            </a:r>
          </a:p>
        </p:txBody>
      </p:sp>
      <p:sp>
        <p:nvSpPr>
          <p:cNvPr id="16" name="Editable boundary"/>
          <p:cNvSpPr/>
          <p:nvPr/>
        </p:nvSpPr>
        <p:spPr>
          <a:xfrm>
            <a:off x="7955279" y="2743200"/>
            <a:ext cx="6035040" cy="3337560"/>
          </a:xfrm>
          <a:prstGeom prst="rect">
            <a:avLst/>
          </a:prstGeom>
          <a:solidFill>
            <a:srgbClr val="FFF0A3"/>
          </a:solidFill>
          <a:ln w="19050">
            <a:solidFill>
              <a:srgbClr val="E8D46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A fixed fictional plan"/>
          <p:cNvSpPr txBox="1"/>
          <p:nvPr/>
        </p:nvSpPr>
        <p:spPr>
          <a:xfrm>
            <a:off x="8229600" y="3063240"/>
            <a:ext cx="5440680" cy="548640"/>
          </a:xfrm>
          <a:prstGeom prst="rect">
            <a:avLst/>
          </a:prstGeom>
          <a:noFill/>
        </p:spPr>
        <p:txBody>
          <a:bodyPr wrap="none" lIns="0" rIns="0" tIns="0" bIns="0" anchor="t">
            <a:noAutofit/>
          </a:bodyPr>
          <a:lstStyle/>
          <a:p>
            <a:pPr algn="l">
              <a:lnSpc>
                <a:spcPct val="110000"/>
              </a:lnSpc>
              <a:spcBef>
                <a:spcPts val="0"/>
              </a:spcBef>
              <a:spcAft>
                <a:spcPts val="0"/>
              </a:spcAft>
              <a:defRPr sz="3000" b="1">
                <a:solidFill>
                  <a:srgbClr val="1B2230"/>
                </a:solidFill>
                <a:latin typeface="Arial"/>
              </a:defRPr>
            </a:pPr>
            <a:r>
              <a:t>A fixed fictional plan</a:t>
            </a:r>
          </a:p>
        </p:txBody>
      </p:sp>
      <p:sp>
        <p:nvSpPr>
          <p:cNvPr id="18" name="The plan supplies the action, deadline, who acts and fa"/>
          <p:cNvSpPr txBox="1"/>
          <p:nvPr/>
        </p:nvSpPr>
        <p:spPr>
          <a:xfrm>
            <a:off x="8229600" y="3931920"/>
            <a:ext cx="5440680" cy="1737360"/>
          </a:xfrm>
          <a:prstGeom prst="rect">
            <a:avLst/>
          </a:prstGeom>
          <a:noFill/>
        </p:spPr>
        <p:txBody>
          <a:bodyPr wrap="none" lIns="0" rIns="0" tIns="0" bIns="0" anchor="t">
            <a:noAutofit/>
          </a:bodyPr>
          <a:lstStyle/>
          <a:p>
            <a:pPr algn="l">
              <a:lnSpc>
                <a:spcPct val="110000"/>
              </a:lnSpc>
              <a:spcBef>
                <a:spcPts val="0"/>
              </a:spcBef>
              <a:spcAft>
                <a:spcPts val="0"/>
              </a:spcAft>
              <a:defRPr sz="2700" b="0">
                <a:solidFill>
                  <a:srgbClr val="1B2230"/>
                </a:solidFill>
                <a:latin typeface="Arial"/>
              </a:defRPr>
            </a:pPr>
            <a:r>
              <a:t>The plan supplies the action,</a:t>
            </a:r>
          </a:p>
          <a:p>
            <a:pPr algn="l">
              <a:lnSpc>
                <a:spcPct val="110000"/>
              </a:lnSpc>
              <a:spcBef>
                <a:spcPts val="0"/>
              </a:spcBef>
              <a:spcAft>
                <a:spcPts val="0"/>
              </a:spcAft>
              <a:defRPr sz="2700" b="0">
                <a:solidFill>
                  <a:srgbClr val="1B2230"/>
                </a:solidFill>
                <a:latin typeface="Arial"/>
              </a:defRPr>
            </a:pPr>
            <a:r>
              <a:t>deadline, who acts and fallback.</a:t>
            </a:r>
          </a:p>
          <a:p>
            <a:pPr algn="l">
              <a:lnSpc>
                <a:spcPct val="110000"/>
              </a:lnSpc>
              <a:spcBef>
                <a:spcPts val="0"/>
              </a:spcBef>
              <a:spcAft>
                <a:spcPts val="0"/>
              </a:spcAft>
              <a:defRPr sz="2700" b="0">
                <a:solidFill>
                  <a:srgbClr val="1B2230"/>
                </a:solidFill>
                <a:latin typeface="Arial"/>
              </a:defRPr>
            </a:pPr>
            <a:r>
              <a:t>The model cannot change them.</a:t>
            </a:r>
          </a:p>
        </p:txBody>
      </p:sp>
      <p:sp>
        <p:nvSpPr>
          <p:cNvPr id="19" name="A labelled emergency screen is the only triage-like ste"/>
          <p:cNvSpPr txBox="1"/>
          <p:nvPr/>
        </p:nvSpPr>
        <p:spPr>
          <a:xfrm>
            <a:off x="640080" y="6510528"/>
            <a:ext cx="13350240" cy="941832"/>
          </a:xfrm>
          <a:prstGeom prst="rect">
            <a:avLst/>
          </a:prstGeom>
          <a:noFill/>
        </p:spPr>
        <p:txBody>
          <a:bodyPr wrap="none" lIns="0" rIns="0" tIns="0" bIns="0" anchor="t">
            <a:noAutofit/>
          </a:bodyPr>
          <a:lstStyle/>
          <a:p>
            <a:pPr algn="l">
              <a:lnSpc>
                <a:spcPct val="110000"/>
              </a:lnSpc>
              <a:spcBef>
                <a:spcPts val="0"/>
              </a:spcBef>
              <a:spcAft>
                <a:spcPts val="0"/>
              </a:spcAft>
              <a:defRPr sz="2500" b="0">
                <a:solidFill>
                  <a:srgbClr val="B3261E"/>
                </a:solidFill>
                <a:latin typeface="Arial"/>
              </a:defRPr>
            </a:pPr>
            <a:r>
              <a:t>A labelled emergency screen is the only triage-like step.</a:t>
            </a:r>
          </a:p>
          <a:p>
            <a:pPr algn="l">
              <a:lnSpc>
                <a:spcPct val="110000"/>
              </a:lnSpc>
              <a:spcBef>
                <a:spcPts val="0"/>
              </a:spcBef>
              <a:spcAft>
                <a:spcPts val="0"/>
              </a:spcAft>
              <a:defRPr sz="2500" b="0">
                <a:solidFill>
                  <a:srgbClr val="B3261E"/>
                </a:solidFill>
                <a:latin typeface="Arial"/>
              </a:defRPr>
            </a:pPr>
            <a:r>
              <a:t>No diagnosis, real booking or healthcare-service integration.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5F2"/>
        </a:solidFill>
        <a:effectLst/>
      </p:bgPr>
    </p:bg>
    <p:spTree>
      <p:nvGrpSpPr>
        <p:cNvPr id="1" name=""/>
        <p:cNvGrpSpPr/>
        <p:nvPr/>
      </p:nvGrpSpPr>
      <p:grpSpPr/>
      <p:sp>
        <p:nvSpPr>
          <p:cNvPr id="2" name="Slide title"/>
          <p:cNvSpPr txBox="1"/>
          <p:nvPr/>
        </p:nvSpPr>
        <p:spPr>
          <a:xfrm>
            <a:off x="548640" y="384048"/>
            <a:ext cx="13533120" cy="621792"/>
          </a:xfrm>
          <a:prstGeom prst="rect">
            <a:avLst/>
          </a:prstGeom>
          <a:noFill/>
        </p:spPr>
        <p:txBody>
          <a:bodyPr wrap="none" lIns="0" rIns="0" tIns="0" bIns="0" anchor="t">
            <a:noAutofit/>
          </a:bodyPr>
          <a:lstStyle/>
          <a:p>
            <a:pPr algn="l">
              <a:lnSpc>
                <a:spcPct val="110000"/>
              </a:lnSpc>
              <a:spcBef>
                <a:spcPts val="0"/>
              </a:spcBef>
              <a:spcAft>
                <a:spcPts val="0"/>
              </a:spcAft>
              <a:defRPr sz="4000" b="1">
                <a:solidFill>
                  <a:srgbClr val="1B2230"/>
                </a:solidFill>
                <a:latin typeface="Arial"/>
              </a:defRPr>
            </a:pPr>
            <a:r>
              <a:t>System architecture</a:t>
            </a:r>
          </a:p>
        </p:txBody>
      </p:sp>
      <p:sp>
        <p:nvSpPr>
          <p:cNvPr id="3" name="Read left to right. The guard must reserve a call befor"/>
          <p:cNvSpPr txBox="1"/>
          <p:nvPr/>
        </p:nvSpPr>
        <p:spPr>
          <a:xfrm>
            <a:off x="566928" y="1097280"/>
            <a:ext cx="13441680" cy="530352"/>
          </a:xfrm>
          <a:prstGeom prst="rect">
            <a:avLst/>
          </a:prstGeom>
          <a:noFill/>
        </p:spPr>
        <p:txBody>
          <a:bodyPr wrap="none" lIns="0" rIns="0" tIns="0" bIns="0" anchor="t">
            <a:noAutofit/>
          </a:bodyPr>
          <a:lstStyle/>
          <a:p>
            <a:pPr algn="l">
              <a:lnSpc>
                <a:spcPct val="110000"/>
              </a:lnSpc>
              <a:spcBef>
                <a:spcPts val="0"/>
              </a:spcBef>
              <a:spcAft>
                <a:spcPts val="0"/>
              </a:spcAft>
              <a:defRPr sz="2300" b="0">
                <a:solidFill>
                  <a:srgbClr val="4F5866"/>
                </a:solidFill>
                <a:latin typeface="Arial"/>
              </a:defRPr>
            </a:pPr>
            <a:r>
              <a:t>Read left to right. The guard must reserve a call before Tencent ADP is contacted.</a:t>
            </a:r>
          </a:p>
        </p:txBody>
      </p:sp>
      <p:cxnSp>
        <p:nvCxnSpPr>
          <p:cNvPr id="4" name="Editable connector"/>
          <p:cNvCxnSpPr/>
          <p:nvPr/>
        </p:nvCxnSpPr>
        <p:spPr>
          <a:xfrm>
            <a:off x="548640" y="7818120"/>
            <a:ext cx="13533120" cy="0"/>
          </a:xfrm>
          <a:prstGeom prst="line">
            <a:avLst/>
          </a:prstGeom>
          <a:ln w="12700">
            <a:solidFill>
              <a:srgbClr val="D3D9D4"/>
            </a:solidFill>
          </a:ln>
          <a:effectLst/>
        </p:spPr>
        <p:style>
          <a:lnRef idx="2">
            <a:schemeClr val="accent1"/>
          </a:lnRef>
          <a:fillRef idx="0">
            <a:schemeClr val="accent1"/>
          </a:fillRef>
          <a:effectRef idx="0">
            <a:schemeClr val="accent1"/>
          </a:effectRef>
          <a:fontRef idx="minor">
            <a:schemeClr val="tx1"/>
          </a:fontRef>
        </p:style>
      </p:cxnSp>
      <p:sp>
        <p:nvSpPr>
          <p:cNvPr id="5" name="Simulated demo. Not medical advice."/>
          <p:cNvSpPr txBox="1"/>
          <p:nvPr/>
        </p:nvSpPr>
        <p:spPr>
          <a:xfrm>
            <a:off x="566928" y="7936992"/>
            <a:ext cx="10972800" cy="228600"/>
          </a:xfrm>
          <a:prstGeom prst="rect">
            <a:avLst/>
          </a:prstGeom>
          <a:noFill/>
        </p:spPr>
        <p:txBody>
          <a:bodyPr wrap="none" lIns="0" rIns="0" tIns="0" bIns="0" anchor="t">
            <a:noAutofit/>
          </a:bodyPr>
          <a:lstStyle/>
          <a:p>
            <a:pPr algn="l">
              <a:lnSpc>
                <a:spcPct val="110000"/>
              </a:lnSpc>
              <a:spcBef>
                <a:spcPts val="0"/>
              </a:spcBef>
              <a:spcAft>
                <a:spcPts val="0"/>
              </a:spcAft>
              <a:defRPr sz="1400" b="0">
                <a:solidFill>
                  <a:srgbClr val="4F5866"/>
                </a:solidFill>
                <a:latin typeface="Arial"/>
              </a:defRPr>
            </a:pPr>
            <a:r>
              <a:t>Simulated demo. Not medical advice.</a:t>
            </a:r>
          </a:p>
        </p:txBody>
      </p:sp>
      <p:sp>
        <p:nvSpPr>
          <p:cNvPr id="6" name="3"/>
          <p:cNvSpPr txBox="1"/>
          <p:nvPr/>
        </p:nvSpPr>
        <p:spPr>
          <a:xfrm>
            <a:off x="13487400" y="7936992"/>
            <a:ext cx="566928" cy="228600"/>
          </a:xfrm>
          <a:prstGeom prst="rect">
            <a:avLst/>
          </a:prstGeom>
          <a:noFill/>
        </p:spPr>
        <p:txBody>
          <a:bodyPr wrap="none" lIns="0" rIns="0" tIns="0" bIns="0" anchor="t">
            <a:noAutofit/>
          </a:bodyPr>
          <a:lstStyle/>
          <a:p>
            <a:pPr algn="r">
              <a:lnSpc>
                <a:spcPct val="110000"/>
              </a:lnSpc>
              <a:spcBef>
                <a:spcPts val="0"/>
              </a:spcBef>
              <a:spcAft>
                <a:spcPts val="0"/>
              </a:spcAft>
              <a:defRPr sz="1400" b="0">
                <a:solidFill>
                  <a:srgbClr val="4F5866"/>
                </a:solidFill>
                <a:latin typeface="Arial"/>
              </a:defRPr>
            </a:pPr>
            <a:r>
              <a:t>3</a:t>
            </a:r>
          </a:p>
        </p:txBody>
      </p:sp>
      <p:cxnSp>
        <p:nvCxnSpPr>
          <p:cNvPr id="7" name="Editable connector"/>
          <p:cNvCxnSpPr/>
          <p:nvPr/>
        </p:nvCxnSpPr>
        <p:spPr>
          <a:xfrm>
            <a:off x="2880360" y="3108960"/>
            <a:ext cx="594360" cy="0"/>
          </a:xfrm>
          <a:prstGeom prst="line">
            <a:avLst/>
          </a:prstGeom>
          <a:ln w="21590">
            <a:solidFill>
              <a:srgbClr val="1B223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8" name="Editable connector"/>
          <p:cNvCxnSpPr/>
          <p:nvPr/>
        </p:nvCxnSpPr>
        <p:spPr>
          <a:xfrm>
            <a:off x="6309360" y="3108960"/>
            <a:ext cx="594360" cy="0"/>
          </a:xfrm>
          <a:prstGeom prst="line">
            <a:avLst/>
          </a:prstGeom>
          <a:ln w="21590">
            <a:solidFill>
              <a:srgbClr val="1B223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9" name="Editable connector"/>
          <p:cNvCxnSpPr/>
          <p:nvPr/>
        </p:nvCxnSpPr>
        <p:spPr>
          <a:xfrm>
            <a:off x="10195560" y="4480560"/>
            <a:ext cx="365760" cy="0"/>
          </a:xfrm>
          <a:prstGeom prst="line">
            <a:avLst/>
          </a:prstGeom>
          <a:ln w="21590">
            <a:solidFill>
              <a:srgbClr val="0052D9"/>
            </a:solidFill>
          </a:ln>
          <a:effectLst/>
        </p:spPr>
        <p:style>
          <a:lnRef idx="2">
            <a:schemeClr val="accent1"/>
          </a:lnRef>
          <a:fillRef idx="0">
            <a:schemeClr val="accent1"/>
          </a:fillRef>
          <a:effectRef idx="0">
            <a:schemeClr val="accent1"/>
          </a:effectRef>
          <a:fontRef idx="minor">
            <a:schemeClr val="tx1"/>
          </a:fontRef>
        </p:style>
      </p:cxnSp>
      <p:cxnSp>
        <p:nvCxnSpPr>
          <p:cNvPr id="10" name="Editable connector"/>
          <p:cNvCxnSpPr/>
          <p:nvPr/>
        </p:nvCxnSpPr>
        <p:spPr>
          <a:xfrm flipV="1">
            <a:off x="10561320" y="2606040"/>
            <a:ext cx="0" cy="1874520"/>
          </a:xfrm>
          <a:prstGeom prst="line">
            <a:avLst/>
          </a:prstGeom>
          <a:ln w="21590">
            <a:solidFill>
              <a:srgbClr val="0052D9"/>
            </a:solidFill>
          </a:ln>
          <a:effectLst/>
        </p:spPr>
        <p:style>
          <a:lnRef idx="2">
            <a:schemeClr val="accent1"/>
          </a:lnRef>
          <a:fillRef idx="0">
            <a:schemeClr val="accent1"/>
          </a:fillRef>
          <a:effectRef idx="0">
            <a:schemeClr val="accent1"/>
          </a:effectRef>
          <a:fontRef idx="minor">
            <a:schemeClr val="tx1"/>
          </a:fontRef>
        </p:style>
      </p:cxnSp>
      <p:cxnSp>
        <p:nvCxnSpPr>
          <p:cNvPr id="11" name="Editable connector"/>
          <p:cNvCxnSpPr/>
          <p:nvPr/>
        </p:nvCxnSpPr>
        <p:spPr>
          <a:xfrm>
            <a:off x="10561320" y="2606040"/>
            <a:ext cx="457200" cy="0"/>
          </a:xfrm>
          <a:prstGeom prst="line">
            <a:avLst/>
          </a:prstGeom>
          <a:ln w="21590">
            <a:solidFill>
              <a:srgbClr val="0052D9"/>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2" name="Editable connector"/>
          <p:cNvCxnSpPr/>
          <p:nvPr/>
        </p:nvCxnSpPr>
        <p:spPr>
          <a:xfrm>
            <a:off x="10195560" y="4617720"/>
            <a:ext cx="822960" cy="0"/>
          </a:xfrm>
          <a:prstGeom prst="line">
            <a:avLst/>
          </a:prstGeom>
          <a:ln w="21590">
            <a:solidFill>
              <a:srgbClr val="4F5866"/>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3" name="Editable connector"/>
          <p:cNvCxnSpPr/>
          <p:nvPr/>
        </p:nvCxnSpPr>
        <p:spPr>
          <a:xfrm>
            <a:off x="8549640" y="5166360"/>
            <a:ext cx="0" cy="822960"/>
          </a:xfrm>
          <a:prstGeom prst="line">
            <a:avLst/>
          </a:prstGeom>
          <a:ln w="21590">
            <a:solidFill>
              <a:srgbClr val="0D5E4F"/>
            </a:solidFill>
            <a:tailEnd type="triangle"/>
          </a:ln>
          <a:effectLst/>
        </p:spPr>
        <p:style>
          <a:lnRef idx="2">
            <a:schemeClr val="accent1"/>
          </a:lnRef>
          <a:fillRef idx="0">
            <a:schemeClr val="accent1"/>
          </a:fillRef>
          <a:effectRef idx="0">
            <a:schemeClr val="accent1"/>
          </a:effectRef>
          <a:fontRef idx="minor">
            <a:schemeClr val="tx1"/>
          </a:fontRef>
        </p:style>
      </p:cxnSp>
      <p:sp>
        <p:nvSpPr>
          <p:cNvPr id="14" name="Browser"/>
          <p:cNvSpPr/>
          <p:nvPr/>
        </p:nvSpPr>
        <p:spPr>
          <a:xfrm>
            <a:off x="548640" y="1920240"/>
            <a:ext cx="2331720" cy="3337560"/>
          </a:xfrm>
          <a:prstGeom prst="rect">
            <a:avLst/>
          </a:prstGeom>
          <a:solidFill>
            <a:srgbClr val="FFFFFF"/>
          </a:solidFill>
          <a:ln w="19050">
            <a:solidFill>
              <a:srgbClr val="1B223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rowser"/>
          <p:cNvSpPr txBox="1"/>
          <p:nvPr/>
        </p:nvSpPr>
        <p:spPr>
          <a:xfrm>
            <a:off x="731520" y="2066544"/>
            <a:ext cx="1965960" cy="392176"/>
          </a:xfrm>
          <a:prstGeom prst="rect">
            <a:avLst/>
          </a:prstGeom>
          <a:noFill/>
        </p:spPr>
        <p:txBody>
          <a:bodyPr wrap="none" lIns="0" rIns="0" tIns="0" bIns="0" anchor="t">
            <a:noAutofit/>
          </a:bodyPr>
          <a:lstStyle/>
          <a:p>
            <a:pPr algn="l">
              <a:lnSpc>
                <a:spcPct val="110000"/>
              </a:lnSpc>
              <a:spcBef>
                <a:spcPts val="0"/>
              </a:spcBef>
              <a:spcAft>
                <a:spcPts val="0"/>
              </a:spcAft>
              <a:defRPr sz="2500" b="1">
                <a:solidFill>
                  <a:srgbClr val="1B2230"/>
                </a:solidFill>
                <a:latin typeface="Arial"/>
              </a:defRPr>
            </a:pPr>
            <a:r>
              <a:t>Browser</a:t>
            </a:r>
          </a:p>
        </p:txBody>
      </p:sp>
      <p:sp>
        <p:nvSpPr>
          <p:cNvPr id="16" name="/patient&#10;/demo&#10;/demo/stage&#10;&#10;Local safety check"/>
          <p:cNvSpPr txBox="1"/>
          <p:nvPr/>
        </p:nvSpPr>
        <p:spPr>
          <a:xfrm>
            <a:off x="731520" y="2623312"/>
            <a:ext cx="1965960" cy="2524759"/>
          </a:xfrm>
          <a:prstGeom prst="rect">
            <a:avLst/>
          </a:prstGeom>
          <a:noFill/>
        </p:spPr>
        <p:txBody>
          <a:bodyPr wrap="none" lIns="0" rIns="0" tIns="0" bIns="0" anchor="t">
            <a:noAutofit/>
          </a:bodyPr>
          <a:lstStyle/>
          <a:p>
            <a:pPr algn="l">
              <a:lnSpc>
                <a:spcPct val="110000"/>
              </a:lnSpc>
              <a:spcBef>
                <a:spcPts val="0"/>
              </a:spcBef>
              <a:spcAft>
                <a:spcPts val="0"/>
              </a:spcAft>
              <a:defRPr sz="2300" b="0">
                <a:solidFill>
                  <a:srgbClr val="1B2230"/>
                </a:solidFill>
                <a:latin typeface="Arial"/>
              </a:defRPr>
            </a:pPr>
            <a:r>
              <a:t>/patient</a:t>
            </a:r>
          </a:p>
          <a:p>
            <a:pPr algn="l">
              <a:lnSpc>
                <a:spcPct val="110000"/>
              </a:lnSpc>
              <a:spcBef>
                <a:spcPts val="0"/>
              </a:spcBef>
              <a:spcAft>
                <a:spcPts val="0"/>
              </a:spcAft>
              <a:defRPr sz="2300" b="0">
                <a:solidFill>
                  <a:srgbClr val="1B2230"/>
                </a:solidFill>
                <a:latin typeface="Arial"/>
              </a:defRPr>
            </a:pPr>
            <a:r>
              <a:t>/demo</a:t>
            </a:r>
          </a:p>
          <a:p>
            <a:pPr algn="l">
              <a:lnSpc>
                <a:spcPct val="110000"/>
              </a:lnSpc>
              <a:spcBef>
                <a:spcPts val="0"/>
              </a:spcBef>
              <a:spcAft>
                <a:spcPts val="0"/>
              </a:spcAft>
              <a:defRPr sz="2300" b="0">
                <a:solidFill>
                  <a:srgbClr val="1B2230"/>
                </a:solidFill>
                <a:latin typeface="Arial"/>
              </a:defRPr>
            </a:pPr>
            <a:r>
              <a:t>/demo/stage</a:t>
            </a:r>
          </a:p>
          <a:p>
            <a:pPr algn="l">
              <a:lnSpc>
                <a:spcPct val="110000"/>
              </a:lnSpc>
              <a:spcBef>
                <a:spcPts val="0"/>
              </a:spcBef>
              <a:spcAft>
                <a:spcPts val="0"/>
              </a:spcAft>
              <a:defRPr sz="2300" b="0">
                <a:solidFill>
                  <a:srgbClr val="1B2230"/>
                </a:solidFill>
                <a:latin typeface="Arial"/>
              </a:defRPr>
            </a:pPr>
          </a:p>
          <a:p>
            <a:pPr algn="l">
              <a:lnSpc>
                <a:spcPct val="110000"/>
              </a:lnSpc>
              <a:spcBef>
                <a:spcPts val="0"/>
              </a:spcBef>
              <a:spcAft>
                <a:spcPts val="0"/>
              </a:spcAft>
              <a:defRPr sz="2300" b="0">
                <a:solidFill>
                  <a:srgbClr val="1B2230"/>
                </a:solidFill>
                <a:latin typeface="Arial"/>
              </a:defRPr>
            </a:pPr>
            <a:r>
              <a:t>Local safety</a:t>
            </a:r>
          </a:p>
          <a:p>
            <a:pPr algn="l">
              <a:lnSpc>
                <a:spcPct val="110000"/>
              </a:lnSpc>
              <a:spcBef>
                <a:spcPts val="0"/>
              </a:spcBef>
              <a:spcAft>
                <a:spcPts val="0"/>
              </a:spcAft>
              <a:defRPr sz="2300" b="0">
                <a:solidFill>
                  <a:srgbClr val="1B2230"/>
                </a:solidFill>
                <a:latin typeface="Arial"/>
              </a:defRPr>
            </a:pPr>
            <a:r>
              <a:t>check</a:t>
            </a:r>
          </a:p>
        </p:txBody>
      </p:sp>
      <p:sp>
        <p:nvSpPr>
          <p:cNvPr id="17" name="Next.js"/>
          <p:cNvSpPr/>
          <p:nvPr/>
        </p:nvSpPr>
        <p:spPr>
          <a:xfrm>
            <a:off x="3474720" y="1920240"/>
            <a:ext cx="2834640" cy="3337560"/>
          </a:xfrm>
          <a:prstGeom prst="rect">
            <a:avLst/>
          </a:prstGeom>
          <a:solidFill>
            <a:srgbClr val="DCEFE9"/>
          </a:solidFill>
          <a:ln w="19050">
            <a:solidFill>
              <a:srgbClr val="0D5E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Next.js"/>
          <p:cNvSpPr txBox="1"/>
          <p:nvPr/>
        </p:nvSpPr>
        <p:spPr>
          <a:xfrm>
            <a:off x="3657600" y="2066544"/>
            <a:ext cx="2468880" cy="392176"/>
          </a:xfrm>
          <a:prstGeom prst="rect">
            <a:avLst/>
          </a:prstGeom>
          <a:noFill/>
        </p:spPr>
        <p:txBody>
          <a:bodyPr wrap="none" lIns="0" rIns="0" tIns="0" bIns="0" anchor="t">
            <a:noAutofit/>
          </a:bodyPr>
          <a:lstStyle/>
          <a:p>
            <a:pPr algn="l">
              <a:lnSpc>
                <a:spcPct val="110000"/>
              </a:lnSpc>
              <a:spcBef>
                <a:spcPts val="0"/>
              </a:spcBef>
              <a:spcAft>
                <a:spcPts val="0"/>
              </a:spcAft>
              <a:defRPr sz="2500" b="1">
                <a:solidFill>
                  <a:srgbClr val="0D5E4F"/>
                </a:solidFill>
                <a:latin typeface="Arial"/>
              </a:defRPr>
            </a:pPr>
            <a:r>
              <a:t>Next.js</a:t>
            </a:r>
          </a:p>
        </p:txBody>
      </p:sp>
      <p:sp>
        <p:nvSpPr>
          <p:cNvPr id="19" name="Vercel&#10;Server actions&#10;&#10;Bearer token stays on the server"/>
          <p:cNvSpPr txBox="1"/>
          <p:nvPr/>
        </p:nvSpPr>
        <p:spPr>
          <a:xfrm>
            <a:off x="3657600" y="2623312"/>
            <a:ext cx="2468880" cy="2524759"/>
          </a:xfrm>
          <a:prstGeom prst="rect">
            <a:avLst/>
          </a:prstGeom>
          <a:noFill/>
        </p:spPr>
        <p:txBody>
          <a:bodyPr wrap="none" lIns="0" rIns="0" tIns="0" bIns="0" anchor="t">
            <a:noAutofit/>
          </a:bodyPr>
          <a:lstStyle/>
          <a:p>
            <a:pPr algn="l">
              <a:lnSpc>
                <a:spcPct val="110000"/>
              </a:lnSpc>
              <a:spcBef>
                <a:spcPts val="0"/>
              </a:spcBef>
              <a:spcAft>
                <a:spcPts val="0"/>
              </a:spcAft>
              <a:defRPr sz="2300" b="0">
                <a:solidFill>
                  <a:srgbClr val="1B2230"/>
                </a:solidFill>
                <a:latin typeface="Arial"/>
              </a:defRPr>
            </a:pPr>
            <a:r>
              <a:t>Vercel</a:t>
            </a:r>
          </a:p>
          <a:p>
            <a:pPr algn="l">
              <a:lnSpc>
                <a:spcPct val="110000"/>
              </a:lnSpc>
              <a:spcBef>
                <a:spcPts val="0"/>
              </a:spcBef>
              <a:spcAft>
                <a:spcPts val="0"/>
              </a:spcAft>
              <a:defRPr sz="2300" b="0">
                <a:solidFill>
                  <a:srgbClr val="1B2230"/>
                </a:solidFill>
                <a:latin typeface="Arial"/>
              </a:defRPr>
            </a:pPr>
            <a:r>
              <a:t>Server actions</a:t>
            </a:r>
          </a:p>
          <a:p>
            <a:pPr algn="l">
              <a:lnSpc>
                <a:spcPct val="110000"/>
              </a:lnSpc>
              <a:spcBef>
                <a:spcPts val="0"/>
              </a:spcBef>
              <a:spcAft>
                <a:spcPts val="0"/>
              </a:spcAft>
              <a:defRPr sz="2300" b="0">
                <a:solidFill>
                  <a:srgbClr val="1B2230"/>
                </a:solidFill>
                <a:latin typeface="Arial"/>
              </a:defRPr>
            </a:pPr>
          </a:p>
          <a:p>
            <a:pPr algn="l">
              <a:lnSpc>
                <a:spcPct val="110000"/>
              </a:lnSpc>
              <a:spcBef>
                <a:spcPts val="0"/>
              </a:spcBef>
              <a:spcAft>
                <a:spcPts val="0"/>
              </a:spcAft>
              <a:defRPr sz="2300" b="0">
                <a:solidFill>
                  <a:srgbClr val="1B2230"/>
                </a:solidFill>
                <a:latin typeface="Arial"/>
              </a:defRPr>
            </a:pPr>
            <a:r>
              <a:t>Bearer token</a:t>
            </a:r>
          </a:p>
          <a:p>
            <a:pPr algn="l">
              <a:lnSpc>
                <a:spcPct val="110000"/>
              </a:lnSpc>
              <a:spcBef>
                <a:spcPts val="0"/>
              </a:spcBef>
              <a:spcAft>
                <a:spcPts val="0"/>
              </a:spcAft>
              <a:defRPr sz="2300" b="0">
                <a:solidFill>
                  <a:srgbClr val="1B2230"/>
                </a:solidFill>
                <a:latin typeface="Arial"/>
              </a:defRPr>
            </a:pPr>
            <a:r>
              <a:t>stays on the</a:t>
            </a:r>
          </a:p>
          <a:p>
            <a:pPr algn="l">
              <a:lnSpc>
                <a:spcPct val="110000"/>
              </a:lnSpc>
              <a:spcBef>
                <a:spcPts val="0"/>
              </a:spcBef>
              <a:spcAft>
                <a:spcPts val="0"/>
              </a:spcAft>
              <a:defRPr sz="2300" b="0">
                <a:solidFill>
                  <a:srgbClr val="1B2230"/>
                </a:solidFill>
                <a:latin typeface="Arial"/>
              </a:defRPr>
            </a:pPr>
            <a:r>
              <a:t>server.</a:t>
            </a:r>
          </a:p>
        </p:txBody>
      </p:sp>
      <p:sp>
        <p:nvSpPr>
          <p:cNvPr id="20" name="Editable boundary"/>
          <p:cNvSpPr/>
          <p:nvPr/>
        </p:nvSpPr>
        <p:spPr>
          <a:xfrm>
            <a:off x="6903720" y="1920240"/>
            <a:ext cx="3291840" cy="3246120"/>
          </a:xfrm>
          <a:prstGeom prst="rect">
            <a:avLst/>
          </a:prstGeom>
          <a:solidFill>
            <a:srgbClr val="DCEFE9"/>
          </a:solidFill>
          <a:ln w="19050">
            <a:solidFill>
              <a:srgbClr val="0D5E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FastAPI"/>
          <p:cNvSpPr txBox="1"/>
          <p:nvPr/>
        </p:nvSpPr>
        <p:spPr>
          <a:xfrm>
            <a:off x="7104888" y="2084831"/>
            <a:ext cx="2880360" cy="475488"/>
          </a:xfrm>
          <a:prstGeom prst="rect">
            <a:avLst/>
          </a:prstGeom>
          <a:noFill/>
        </p:spPr>
        <p:txBody>
          <a:bodyPr wrap="none" lIns="0" rIns="0" tIns="0" bIns="0" anchor="t">
            <a:noAutofit/>
          </a:bodyPr>
          <a:lstStyle/>
          <a:p>
            <a:pPr algn="l">
              <a:lnSpc>
                <a:spcPct val="110000"/>
              </a:lnSpc>
              <a:spcBef>
                <a:spcPts val="0"/>
              </a:spcBef>
              <a:spcAft>
                <a:spcPts val="0"/>
              </a:spcAft>
              <a:defRPr sz="2800" b="1">
                <a:solidFill>
                  <a:srgbClr val="0D5E4F"/>
                </a:solidFill>
                <a:latin typeface="Arial"/>
              </a:defRPr>
            </a:pPr>
            <a:r>
              <a:t>FastAPI</a:t>
            </a:r>
          </a:p>
        </p:txBody>
      </p:sp>
      <p:sp>
        <p:nvSpPr>
          <p:cNvPr id="22" name="Render - Docker&#10;Free plan configured&#10;Journey / closure "/>
          <p:cNvSpPr txBox="1"/>
          <p:nvPr/>
        </p:nvSpPr>
        <p:spPr>
          <a:xfrm>
            <a:off x="7104888" y="2734056"/>
            <a:ext cx="2880360" cy="1170432"/>
          </a:xfrm>
          <a:prstGeom prst="rect">
            <a:avLst/>
          </a:prstGeom>
          <a:noFill/>
        </p:spPr>
        <p:txBody>
          <a:bodyPr wrap="none" lIns="0" rIns="0" tIns="0" bIns="0" anchor="t">
            <a:noAutofit/>
          </a:bodyPr>
          <a:lstStyle/>
          <a:p>
            <a:pPr algn="l">
              <a:lnSpc>
                <a:spcPct val="110000"/>
              </a:lnSpc>
              <a:spcBef>
                <a:spcPts val="0"/>
              </a:spcBef>
              <a:spcAft>
                <a:spcPts val="0"/>
              </a:spcAft>
              <a:defRPr sz="2100" b="0">
                <a:solidFill>
                  <a:srgbClr val="1B2230"/>
                </a:solidFill>
                <a:latin typeface="Arial"/>
              </a:defRPr>
            </a:pPr>
            <a:r>
              <a:t>Render - Docker</a:t>
            </a:r>
          </a:p>
          <a:p>
            <a:pPr algn="l">
              <a:lnSpc>
                <a:spcPct val="110000"/>
              </a:lnSpc>
              <a:spcBef>
                <a:spcPts val="0"/>
              </a:spcBef>
              <a:spcAft>
                <a:spcPts val="0"/>
              </a:spcAft>
              <a:defRPr sz="2100" b="0">
                <a:solidFill>
                  <a:srgbClr val="1B2230"/>
                </a:solidFill>
                <a:latin typeface="Arial"/>
              </a:defRPr>
            </a:pPr>
            <a:r>
              <a:t>Free plan configured</a:t>
            </a:r>
          </a:p>
          <a:p>
            <a:pPr algn="l">
              <a:lnSpc>
                <a:spcPct val="110000"/>
              </a:lnSpc>
              <a:spcBef>
                <a:spcPts val="0"/>
              </a:spcBef>
              <a:spcAft>
                <a:spcPts val="0"/>
              </a:spcAft>
              <a:defRPr sz="2100" b="0">
                <a:solidFill>
                  <a:srgbClr val="1B2230"/>
                </a:solidFill>
                <a:latin typeface="Arial"/>
              </a:defRPr>
            </a:pPr>
            <a:r>
              <a:t>Journey / closure rules</a:t>
            </a:r>
          </a:p>
        </p:txBody>
      </p:sp>
      <p:sp>
        <p:nvSpPr>
          <p:cNvPr id="23" name="Editable boundary"/>
          <p:cNvSpPr/>
          <p:nvPr/>
        </p:nvSpPr>
        <p:spPr>
          <a:xfrm>
            <a:off x="7104888" y="4096512"/>
            <a:ext cx="2880360" cy="777240"/>
          </a:xfrm>
          <a:prstGeom prst="rect">
            <a:avLst/>
          </a:prstGeom>
          <a:solidFill>
            <a:srgbClr val="FFFFFF"/>
          </a:solidFill>
          <a:ln w="25400">
            <a:solidFill>
              <a:srgbClr val="0D5E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Durable reservation guard"/>
          <p:cNvSpPr txBox="1"/>
          <p:nvPr/>
        </p:nvSpPr>
        <p:spPr>
          <a:xfrm>
            <a:off x="7260336" y="4160520"/>
            <a:ext cx="2578608" cy="676656"/>
          </a:xfrm>
          <a:prstGeom prst="rect">
            <a:avLst/>
          </a:prstGeom>
          <a:noFill/>
        </p:spPr>
        <p:txBody>
          <a:bodyPr wrap="none" lIns="0" rIns="0" tIns="0" bIns="0" anchor="t">
            <a:noAutofit/>
          </a:bodyPr>
          <a:lstStyle/>
          <a:p>
            <a:pPr algn="l">
              <a:lnSpc>
                <a:spcPct val="110000"/>
              </a:lnSpc>
              <a:spcBef>
                <a:spcPts val="0"/>
              </a:spcBef>
              <a:spcAft>
                <a:spcPts val="0"/>
              </a:spcAft>
              <a:defRPr sz="2100" b="1">
                <a:solidFill>
                  <a:srgbClr val="0D5E4F"/>
                </a:solidFill>
                <a:latin typeface="Arial"/>
              </a:defRPr>
            </a:pPr>
            <a:r>
              <a:t>Durable</a:t>
            </a:r>
          </a:p>
          <a:p>
            <a:pPr algn="l">
              <a:lnSpc>
                <a:spcPct val="110000"/>
              </a:lnSpc>
              <a:spcBef>
                <a:spcPts val="0"/>
              </a:spcBef>
              <a:spcAft>
                <a:spcPts val="0"/>
              </a:spcAft>
              <a:defRPr sz="2100" b="1">
                <a:solidFill>
                  <a:srgbClr val="0D5E4F"/>
                </a:solidFill>
                <a:latin typeface="Arial"/>
              </a:defRPr>
            </a:pPr>
            <a:r>
              <a:t>reservation guard</a:t>
            </a:r>
          </a:p>
        </p:txBody>
      </p:sp>
      <p:sp>
        <p:nvSpPr>
          <p:cNvPr id="25" name="Tencent ADP"/>
          <p:cNvSpPr/>
          <p:nvPr/>
        </p:nvSpPr>
        <p:spPr>
          <a:xfrm>
            <a:off x="11018520" y="1920240"/>
            <a:ext cx="3063240" cy="1810512"/>
          </a:xfrm>
          <a:prstGeom prst="rect">
            <a:avLst/>
          </a:prstGeom>
          <a:solidFill>
            <a:srgbClr val="E3ECFC"/>
          </a:solidFill>
          <a:ln w="19050">
            <a:solidFill>
              <a:srgbClr val="0052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ncent ADP"/>
          <p:cNvSpPr txBox="1"/>
          <p:nvPr/>
        </p:nvSpPr>
        <p:spPr>
          <a:xfrm>
            <a:off x="11201400" y="2066544"/>
            <a:ext cx="2697480" cy="392176"/>
          </a:xfrm>
          <a:prstGeom prst="rect">
            <a:avLst/>
          </a:prstGeom>
          <a:noFill/>
        </p:spPr>
        <p:txBody>
          <a:bodyPr wrap="none" lIns="0" rIns="0" tIns="0" bIns="0" anchor="t">
            <a:noAutofit/>
          </a:bodyPr>
          <a:lstStyle/>
          <a:p>
            <a:pPr algn="l">
              <a:lnSpc>
                <a:spcPct val="110000"/>
              </a:lnSpc>
              <a:spcBef>
                <a:spcPts val="0"/>
              </a:spcBef>
              <a:spcAft>
                <a:spcPts val="0"/>
              </a:spcAft>
              <a:defRPr sz="2500" b="1">
                <a:solidFill>
                  <a:srgbClr val="0052D9"/>
                </a:solidFill>
                <a:latin typeface="Arial"/>
              </a:defRPr>
            </a:pPr>
            <a:r>
              <a:t>Tencent ADP</a:t>
            </a:r>
          </a:p>
        </p:txBody>
      </p:sp>
      <p:sp>
        <p:nvSpPr>
          <p:cNvPr id="27" name="HTTPS&#10;Read-back extraction only"/>
          <p:cNvSpPr txBox="1"/>
          <p:nvPr/>
        </p:nvSpPr>
        <p:spPr>
          <a:xfrm>
            <a:off x="11201400" y="2623312"/>
            <a:ext cx="2697480" cy="997711"/>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HTTPS</a:t>
            </a:r>
          </a:p>
          <a:p>
            <a:pPr algn="l">
              <a:lnSpc>
                <a:spcPct val="110000"/>
              </a:lnSpc>
              <a:spcBef>
                <a:spcPts val="0"/>
              </a:spcBef>
              <a:spcAft>
                <a:spcPts val="0"/>
              </a:spcAft>
              <a:defRPr sz="2200" b="0">
                <a:solidFill>
                  <a:srgbClr val="1B2230"/>
                </a:solidFill>
                <a:latin typeface="Arial"/>
              </a:defRPr>
            </a:pPr>
            <a:r>
              <a:t>Read-back</a:t>
            </a:r>
          </a:p>
          <a:p>
            <a:pPr algn="l">
              <a:lnSpc>
                <a:spcPct val="110000"/>
              </a:lnSpc>
              <a:spcBef>
                <a:spcPts val="0"/>
              </a:spcBef>
              <a:spcAft>
                <a:spcPts val="0"/>
              </a:spcAft>
              <a:defRPr sz="2200" b="0">
                <a:solidFill>
                  <a:srgbClr val="1B2230"/>
                </a:solidFill>
                <a:latin typeface="Arial"/>
              </a:defRPr>
            </a:pPr>
            <a:r>
              <a:t>extraction only</a:t>
            </a:r>
          </a:p>
        </p:txBody>
      </p:sp>
      <p:sp>
        <p:nvSpPr>
          <p:cNvPr id="28" name="Provider - simulated"/>
          <p:cNvSpPr/>
          <p:nvPr/>
        </p:nvSpPr>
        <p:spPr>
          <a:xfrm>
            <a:off x="11018520" y="4069080"/>
            <a:ext cx="3063240" cy="1783080"/>
          </a:xfrm>
          <a:prstGeom prst="rect">
            <a:avLst/>
          </a:prstGeom>
          <a:pattFill prst="ltDnDiag">
            <a:fgClr>
              <a:srgbClr val="E3E6E2"/>
            </a:fgClr>
            <a:bgClr>
              <a:srgbClr val="F3F5F2"/>
            </a:bgClr>
          </a:pattFill>
          <a:ln w="19050">
            <a:solidFill>
              <a:srgbClr val="4F586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Provider - simulated"/>
          <p:cNvSpPr txBox="1"/>
          <p:nvPr/>
        </p:nvSpPr>
        <p:spPr>
          <a:xfrm>
            <a:off x="11201400" y="4215384"/>
            <a:ext cx="2697480" cy="690880"/>
          </a:xfrm>
          <a:prstGeom prst="rect">
            <a:avLst/>
          </a:prstGeom>
          <a:noFill/>
        </p:spPr>
        <p:txBody>
          <a:bodyPr wrap="none" lIns="0" rIns="0" tIns="0" bIns="0" anchor="t">
            <a:noAutofit/>
          </a:bodyPr>
          <a:lstStyle/>
          <a:p>
            <a:pPr algn="l">
              <a:lnSpc>
                <a:spcPct val="110000"/>
              </a:lnSpc>
              <a:spcBef>
                <a:spcPts val="0"/>
              </a:spcBef>
              <a:spcAft>
                <a:spcPts val="0"/>
              </a:spcAft>
              <a:defRPr sz="2300" b="1">
                <a:solidFill>
                  <a:srgbClr val="1B2230"/>
                </a:solidFill>
                <a:latin typeface="Arial"/>
              </a:defRPr>
            </a:pPr>
            <a:r>
              <a:t>Provider -</a:t>
            </a:r>
          </a:p>
          <a:p>
            <a:pPr algn="l">
              <a:lnSpc>
                <a:spcPct val="110000"/>
              </a:lnSpc>
              <a:spcBef>
                <a:spcPts val="0"/>
              </a:spcBef>
              <a:spcAft>
                <a:spcPts val="0"/>
              </a:spcAft>
              <a:defRPr sz="2300" b="1">
                <a:solidFill>
                  <a:srgbClr val="1B2230"/>
                </a:solidFill>
                <a:latin typeface="Arial"/>
              </a:defRPr>
            </a:pPr>
            <a:r>
              <a:t>simulated</a:t>
            </a:r>
          </a:p>
        </p:txBody>
      </p:sp>
      <p:sp>
        <p:nvSpPr>
          <p:cNvPr id="30" name="local-sim&#10;Scripted failure"/>
          <p:cNvSpPr txBox="1"/>
          <p:nvPr/>
        </p:nvSpPr>
        <p:spPr>
          <a:xfrm>
            <a:off x="11201400" y="5070856"/>
            <a:ext cx="2697480" cy="671576"/>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local-sim</a:t>
            </a:r>
          </a:p>
          <a:p>
            <a:pPr algn="l">
              <a:lnSpc>
                <a:spcPct val="110000"/>
              </a:lnSpc>
              <a:spcBef>
                <a:spcPts val="0"/>
              </a:spcBef>
              <a:spcAft>
                <a:spcPts val="0"/>
              </a:spcAft>
              <a:defRPr sz="2200" b="0">
                <a:solidFill>
                  <a:srgbClr val="1B2230"/>
                </a:solidFill>
                <a:latin typeface="Arial"/>
              </a:defRPr>
            </a:pPr>
            <a:r>
              <a:t>Scripted failure</a:t>
            </a:r>
          </a:p>
        </p:txBody>
      </p:sp>
      <p:sp>
        <p:nvSpPr>
          <p:cNvPr id="31" name="Editable boundary"/>
          <p:cNvSpPr/>
          <p:nvPr/>
        </p:nvSpPr>
        <p:spPr>
          <a:xfrm>
            <a:off x="6903720" y="5989320"/>
            <a:ext cx="7178040" cy="1161288"/>
          </a:xfrm>
          <a:prstGeom prst="rect">
            <a:avLst/>
          </a:prstGeom>
          <a:solidFill>
            <a:srgbClr val="FFFFFF"/>
          </a:solidFill>
          <a:ln w="19050">
            <a:solidFill>
              <a:srgbClr val="0D5E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Postgres on Supabase - Virginia"/>
          <p:cNvSpPr txBox="1"/>
          <p:nvPr/>
        </p:nvSpPr>
        <p:spPr>
          <a:xfrm>
            <a:off x="7132320" y="6144768"/>
            <a:ext cx="6720840" cy="411480"/>
          </a:xfrm>
          <a:prstGeom prst="rect">
            <a:avLst/>
          </a:prstGeom>
          <a:noFill/>
        </p:spPr>
        <p:txBody>
          <a:bodyPr wrap="none" lIns="0" rIns="0" tIns="0" bIns="0" anchor="t">
            <a:noAutofit/>
          </a:bodyPr>
          <a:lstStyle/>
          <a:p>
            <a:pPr algn="l">
              <a:lnSpc>
                <a:spcPct val="110000"/>
              </a:lnSpc>
              <a:spcBef>
                <a:spcPts val="0"/>
              </a:spcBef>
              <a:spcAft>
                <a:spcPts val="0"/>
              </a:spcAft>
              <a:defRPr sz="2600" b="1">
                <a:solidFill>
                  <a:srgbClr val="0D5E4F"/>
                </a:solidFill>
                <a:latin typeface="Arial"/>
              </a:defRPr>
            </a:pPr>
            <a:r>
              <a:t>Postgres on Supabase - Virginia</a:t>
            </a:r>
          </a:p>
        </p:txBody>
      </p:sp>
      <p:sp>
        <p:nvSpPr>
          <p:cNvPr id="33" name="Append-only events, commands, reservations"/>
          <p:cNvSpPr txBox="1"/>
          <p:nvPr/>
        </p:nvSpPr>
        <p:spPr>
          <a:xfrm>
            <a:off x="7132320" y="6656832"/>
            <a:ext cx="6720840" cy="393192"/>
          </a:xfrm>
          <a:prstGeom prst="rect">
            <a:avLst/>
          </a:prstGeom>
          <a:noFill/>
        </p:spPr>
        <p:txBody>
          <a:bodyPr wrap="none" lIns="0" rIns="0" tIns="0" bIns="0" anchor="t">
            <a:noAutofit/>
          </a:bodyPr>
          <a:lstStyle/>
          <a:p>
            <a:pPr algn="l">
              <a:lnSpc>
                <a:spcPct val="110000"/>
              </a:lnSpc>
              <a:spcBef>
                <a:spcPts val="0"/>
              </a:spcBef>
              <a:spcAft>
                <a:spcPts val="0"/>
              </a:spcAft>
              <a:defRPr sz="2100" b="0">
                <a:solidFill>
                  <a:srgbClr val="1B2230"/>
                </a:solidFill>
                <a:latin typeface="Arial"/>
              </a:defRPr>
            </a:pPr>
            <a:r>
              <a:t>Append-only events, commands, reservations</a:t>
            </a:r>
          </a:p>
        </p:txBody>
      </p:sp>
      <p:sp>
        <p:nvSpPr>
          <p:cNvPr id="34" name="Bearer-authenticated API"/>
          <p:cNvSpPr txBox="1"/>
          <p:nvPr/>
        </p:nvSpPr>
        <p:spPr>
          <a:xfrm>
            <a:off x="3474720" y="5458968"/>
            <a:ext cx="2834640" cy="621792"/>
          </a:xfrm>
          <a:prstGeom prst="rect">
            <a:avLst/>
          </a:prstGeom>
          <a:noFill/>
        </p:spPr>
        <p:txBody>
          <a:bodyPr wrap="none" lIns="0" rIns="0" tIns="0" bIns="0" anchor="t">
            <a:noAutofit/>
          </a:bodyPr>
          <a:lstStyle/>
          <a:p>
            <a:pPr algn="l">
              <a:lnSpc>
                <a:spcPct val="110000"/>
              </a:lnSpc>
              <a:spcBef>
                <a:spcPts val="0"/>
              </a:spcBef>
              <a:spcAft>
                <a:spcPts val="0"/>
              </a:spcAft>
              <a:defRPr sz="1900" b="0">
                <a:solidFill>
                  <a:srgbClr val="4F5866"/>
                </a:solidFill>
                <a:latin typeface="Arial"/>
              </a:defRPr>
            </a:pPr>
            <a:r>
              <a:t>Bearer-authenticated</a:t>
            </a:r>
          </a:p>
          <a:p>
            <a:pPr algn="l">
              <a:lnSpc>
                <a:spcPct val="110000"/>
              </a:lnSpc>
              <a:spcBef>
                <a:spcPts val="0"/>
              </a:spcBef>
              <a:spcAft>
                <a:spcPts val="0"/>
              </a:spcAft>
              <a:defRPr sz="1900" b="0">
                <a:solidFill>
                  <a:srgbClr val="4F5866"/>
                </a:solidFill>
                <a:latin typeface="Arial"/>
              </a:defRPr>
            </a:pPr>
            <a:r>
              <a:t>API</a:t>
            </a:r>
          </a:p>
        </p:txBody>
      </p:sp>
      <p:sp>
        <p:nvSpPr>
          <p:cNvPr id="35" name="Append / read"/>
          <p:cNvSpPr txBox="1"/>
          <p:nvPr/>
        </p:nvSpPr>
        <p:spPr>
          <a:xfrm>
            <a:off x="6400800" y="5468112"/>
            <a:ext cx="1965960" cy="320040"/>
          </a:xfrm>
          <a:prstGeom prst="rect">
            <a:avLst/>
          </a:prstGeom>
          <a:noFill/>
        </p:spPr>
        <p:txBody>
          <a:bodyPr wrap="none" lIns="0" rIns="0" tIns="0" bIns="0" anchor="t">
            <a:noAutofit/>
          </a:bodyPr>
          <a:lstStyle/>
          <a:p>
            <a:pPr algn="l">
              <a:lnSpc>
                <a:spcPct val="110000"/>
              </a:lnSpc>
              <a:spcBef>
                <a:spcPts val="0"/>
              </a:spcBef>
              <a:spcAft>
                <a:spcPts val="0"/>
              </a:spcAft>
              <a:defRPr sz="1800" b="0">
                <a:solidFill>
                  <a:srgbClr val="4F5866"/>
                </a:solidFill>
                <a:latin typeface="Arial"/>
              </a:defRPr>
            </a:pPr>
            <a:r>
              <a:t>Append / read</a:t>
            </a:r>
          </a:p>
        </p:txBody>
      </p:sp>
      <p:sp>
        <p:nvSpPr>
          <p:cNvPr id="36" name="Offline uses a simulated stand-in.&#10;Hosted state and Ren"/>
          <p:cNvSpPr txBox="1"/>
          <p:nvPr/>
        </p:nvSpPr>
        <p:spPr>
          <a:xfrm>
            <a:off x="594360" y="6089904"/>
            <a:ext cx="5897880" cy="1115568"/>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4F5866"/>
                </a:solidFill>
                <a:latin typeface="Arial"/>
              </a:defRPr>
            </a:pPr>
            <a:r>
              <a:t>Offline uses a simulated stand-in.</a:t>
            </a:r>
          </a:p>
          <a:p>
            <a:pPr algn="l">
              <a:lnSpc>
                <a:spcPct val="110000"/>
              </a:lnSpc>
              <a:spcBef>
                <a:spcPts val="0"/>
              </a:spcBef>
              <a:spcAft>
                <a:spcPts val="0"/>
              </a:spcAft>
              <a:defRPr sz="2200" b="0">
                <a:solidFill>
                  <a:srgbClr val="4F5866"/>
                </a:solidFill>
                <a:latin typeface="Arial"/>
              </a:defRPr>
            </a:pPr>
            <a:r>
              <a:t>Hosted state and Render region are</a:t>
            </a:r>
          </a:p>
          <a:p>
            <a:pPr algn="l">
              <a:lnSpc>
                <a:spcPct val="110000"/>
              </a:lnSpc>
              <a:spcBef>
                <a:spcPts val="0"/>
              </a:spcBef>
              <a:spcAft>
                <a:spcPts val="0"/>
              </a:spcAft>
              <a:defRPr sz="2200" b="0">
                <a:solidFill>
                  <a:srgbClr val="4F5866"/>
                </a:solidFill>
                <a:latin typeface="Arial"/>
              </a:defRPr>
            </a:pPr>
            <a:r>
              <a:t>unverified.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5F2"/>
        </a:solidFill>
        <a:effectLst/>
      </p:bgPr>
    </p:bg>
    <p:spTree>
      <p:nvGrpSpPr>
        <p:cNvPr id="1" name=""/>
        <p:cNvGrpSpPr/>
        <p:nvPr/>
      </p:nvGrpSpPr>
      <p:grpSpPr/>
      <p:sp>
        <p:nvSpPr>
          <p:cNvPr id="2" name="Slide title"/>
          <p:cNvSpPr txBox="1"/>
          <p:nvPr/>
        </p:nvSpPr>
        <p:spPr>
          <a:xfrm>
            <a:off x="548640" y="384048"/>
            <a:ext cx="13533120" cy="621792"/>
          </a:xfrm>
          <a:prstGeom prst="rect">
            <a:avLst/>
          </a:prstGeom>
          <a:noFill/>
        </p:spPr>
        <p:txBody>
          <a:bodyPr wrap="none" lIns="0" rIns="0" tIns="0" bIns="0" anchor="t">
            <a:noAutofit/>
          </a:bodyPr>
          <a:lstStyle/>
          <a:p>
            <a:pPr algn="l">
              <a:lnSpc>
                <a:spcPct val="110000"/>
              </a:lnSpc>
              <a:spcBef>
                <a:spcPts val="0"/>
              </a:spcBef>
              <a:spcAft>
                <a:spcPts val="0"/>
              </a:spcAft>
              <a:defRPr sz="4000" b="1">
                <a:solidFill>
                  <a:srgbClr val="1B2230"/>
                </a:solidFill>
                <a:latin typeface="Arial"/>
              </a:defRPr>
            </a:pPr>
            <a:r>
              <a:t>Trust boundaries</a:t>
            </a:r>
          </a:p>
        </p:txBody>
      </p:sp>
      <p:sp>
        <p:nvSpPr>
          <p:cNvPr id="3" name="Dashed outlines mark trust zones. The simulated provide"/>
          <p:cNvSpPr txBox="1"/>
          <p:nvPr/>
        </p:nvSpPr>
        <p:spPr>
          <a:xfrm>
            <a:off x="566928" y="1097280"/>
            <a:ext cx="13441680" cy="530352"/>
          </a:xfrm>
          <a:prstGeom prst="rect">
            <a:avLst/>
          </a:prstGeom>
          <a:noFill/>
        </p:spPr>
        <p:txBody>
          <a:bodyPr wrap="none" lIns="0" rIns="0" tIns="0" bIns="0" anchor="t">
            <a:noAutofit/>
          </a:bodyPr>
          <a:lstStyle/>
          <a:p>
            <a:pPr algn="l">
              <a:lnSpc>
                <a:spcPct val="110000"/>
              </a:lnSpc>
              <a:spcBef>
                <a:spcPts val="0"/>
              </a:spcBef>
              <a:spcAft>
                <a:spcPts val="0"/>
              </a:spcAft>
              <a:defRPr sz="2300" b="0">
                <a:solidFill>
                  <a:srgbClr val="4F5866"/>
                </a:solidFill>
                <a:latin typeface="Arial"/>
              </a:defRPr>
            </a:pPr>
            <a:r>
              <a:t>Dashed outlines mark trust zones. The simulated provider stays inside the API process.</a:t>
            </a:r>
          </a:p>
        </p:txBody>
      </p:sp>
      <p:cxnSp>
        <p:nvCxnSpPr>
          <p:cNvPr id="4" name="Editable connector"/>
          <p:cNvCxnSpPr/>
          <p:nvPr/>
        </p:nvCxnSpPr>
        <p:spPr>
          <a:xfrm>
            <a:off x="548640" y="7818120"/>
            <a:ext cx="13533120" cy="0"/>
          </a:xfrm>
          <a:prstGeom prst="line">
            <a:avLst/>
          </a:prstGeom>
          <a:ln w="12700">
            <a:solidFill>
              <a:srgbClr val="D3D9D4"/>
            </a:solidFill>
          </a:ln>
          <a:effectLst/>
        </p:spPr>
        <p:style>
          <a:lnRef idx="2">
            <a:schemeClr val="accent1"/>
          </a:lnRef>
          <a:fillRef idx="0">
            <a:schemeClr val="accent1"/>
          </a:fillRef>
          <a:effectRef idx="0">
            <a:schemeClr val="accent1"/>
          </a:effectRef>
          <a:fontRef idx="minor">
            <a:schemeClr val="tx1"/>
          </a:fontRef>
        </p:style>
      </p:cxnSp>
      <p:sp>
        <p:nvSpPr>
          <p:cNvPr id="5" name="Simulated demo. Not medical advice."/>
          <p:cNvSpPr txBox="1"/>
          <p:nvPr/>
        </p:nvSpPr>
        <p:spPr>
          <a:xfrm>
            <a:off x="566928" y="7936992"/>
            <a:ext cx="10972800" cy="228600"/>
          </a:xfrm>
          <a:prstGeom prst="rect">
            <a:avLst/>
          </a:prstGeom>
          <a:noFill/>
        </p:spPr>
        <p:txBody>
          <a:bodyPr wrap="none" lIns="0" rIns="0" tIns="0" bIns="0" anchor="t">
            <a:noAutofit/>
          </a:bodyPr>
          <a:lstStyle/>
          <a:p>
            <a:pPr algn="l">
              <a:lnSpc>
                <a:spcPct val="110000"/>
              </a:lnSpc>
              <a:spcBef>
                <a:spcPts val="0"/>
              </a:spcBef>
              <a:spcAft>
                <a:spcPts val="0"/>
              </a:spcAft>
              <a:defRPr sz="1400" b="0">
                <a:solidFill>
                  <a:srgbClr val="4F5866"/>
                </a:solidFill>
                <a:latin typeface="Arial"/>
              </a:defRPr>
            </a:pPr>
            <a:r>
              <a:t>Simulated demo. Not medical advice.</a:t>
            </a:r>
          </a:p>
        </p:txBody>
      </p:sp>
      <p:sp>
        <p:nvSpPr>
          <p:cNvPr id="6" name="4"/>
          <p:cNvSpPr txBox="1"/>
          <p:nvPr/>
        </p:nvSpPr>
        <p:spPr>
          <a:xfrm>
            <a:off x="13487400" y="7936992"/>
            <a:ext cx="566928" cy="228600"/>
          </a:xfrm>
          <a:prstGeom prst="rect">
            <a:avLst/>
          </a:prstGeom>
          <a:noFill/>
        </p:spPr>
        <p:txBody>
          <a:bodyPr wrap="none" lIns="0" rIns="0" tIns="0" bIns="0" anchor="t">
            <a:noAutofit/>
          </a:bodyPr>
          <a:lstStyle/>
          <a:p>
            <a:pPr algn="r">
              <a:lnSpc>
                <a:spcPct val="110000"/>
              </a:lnSpc>
              <a:spcBef>
                <a:spcPts val="0"/>
              </a:spcBef>
              <a:spcAft>
                <a:spcPts val="0"/>
              </a:spcAft>
              <a:defRPr sz="1400" b="0">
                <a:solidFill>
                  <a:srgbClr val="4F5866"/>
                </a:solidFill>
                <a:latin typeface="Arial"/>
              </a:defRPr>
            </a:pPr>
            <a:r>
              <a:t>4</a:t>
            </a:r>
          </a:p>
        </p:txBody>
      </p:sp>
      <p:cxnSp>
        <p:nvCxnSpPr>
          <p:cNvPr id="7" name="Editable connector"/>
          <p:cNvCxnSpPr/>
          <p:nvPr/>
        </p:nvCxnSpPr>
        <p:spPr>
          <a:xfrm>
            <a:off x="2697480" y="2880360"/>
            <a:ext cx="457200" cy="0"/>
          </a:xfrm>
          <a:prstGeom prst="line">
            <a:avLst/>
          </a:prstGeom>
          <a:ln w="21590">
            <a:solidFill>
              <a:srgbClr val="1B223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8" name="Editable connector"/>
          <p:cNvCxnSpPr/>
          <p:nvPr/>
        </p:nvCxnSpPr>
        <p:spPr>
          <a:xfrm>
            <a:off x="5532120" y="2880360"/>
            <a:ext cx="457200" cy="0"/>
          </a:xfrm>
          <a:prstGeom prst="line">
            <a:avLst/>
          </a:prstGeom>
          <a:ln w="21590">
            <a:solidFill>
              <a:srgbClr val="1B223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9" name="Editable connector"/>
          <p:cNvCxnSpPr/>
          <p:nvPr/>
        </p:nvCxnSpPr>
        <p:spPr>
          <a:xfrm>
            <a:off x="8778240" y="2487168"/>
            <a:ext cx="594360" cy="0"/>
          </a:xfrm>
          <a:prstGeom prst="line">
            <a:avLst/>
          </a:prstGeom>
          <a:ln w="21590">
            <a:solidFill>
              <a:srgbClr val="1B223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0" name="Editable connector"/>
          <p:cNvCxnSpPr/>
          <p:nvPr/>
        </p:nvCxnSpPr>
        <p:spPr>
          <a:xfrm>
            <a:off x="8778240" y="3429000"/>
            <a:ext cx="292608" cy="0"/>
          </a:xfrm>
          <a:prstGeom prst="line">
            <a:avLst/>
          </a:prstGeom>
          <a:ln w="21590">
            <a:solidFill>
              <a:srgbClr val="0052D9"/>
            </a:solidFill>
          </a:ln>
          <a:effectLst/>
        </p:spPr>
        <p:style>
          <a:lnRef idx="2">
            <a:schemeClr val="accent1"/>
          </a:lnRef>
          <a:fillRef idx="0">
            <a:schemeClr val="accent1"/>
          </a:fillRef>
          <a:effectRef idx="0">
            <a:schemeClr val="accent1"/>
          </a:effectRef>
          <a:fontRef idx="minor">
            <a:schemeClr val="tx1"/>
          </a:fontRef>
        </p:style>
      </p:cxnSp>
      <p:cxnSp>
        <p:nvCxnSpPr>
          <p:cNvPr id="11" name="Editable connector"/>
          <p:cNvCxnSpPr/>
          <p:nvPr/>
        </p:nvCxnSpPr>
        <p:spPr>
          <a:xfrm>
            <a:off x="9070848" y="3429000"/>
            <a:ext cx="0" cy="576072"/>
          </a:xfrm>
          <a:prstGeom prst="line">
            <a:avLst/>
          </a:prstGeom>
          <a:ln w="21590">
            <a:solidFill>
              <a:srgbClr val="0052D9"/>
            </a:solidFill>
          </a:ln>
          <a:effectLst/>
        </p:spPr>
        <p:style>
          <a:lnRef idx="2">
            <a:schemeClr val="accent1"/>
          </a:lnRef>
          <a:fillRef idx="0">
            <a:schemeClr val="accent1"/>
          </a:fillRef>
          <a:effectRef idx="0">
            <a:schemeClr val="accent1"/>
          </a:effectRef>
          <a:fontRef idx="minor">
            <a:schemeClr val="tx1"/>
          </a:fontRef>
        </p:style>
      </p:cxnSp>
      <p:cxnSp>
        <p:nvCxnSpPr>
          <p:cNvPr id="12" name="Editable connector"/>
          <p:cNvCxnSpPr/>
          <p:nvPr/>
        </p:nvCxnSpPr>
        <p:spPr>
          <a:xfrm>
            <a:off x="9070848" y="4005072"/>
            <a:ext cx="3794760" cy="0"/>
          </a:xfrm>
          <a:prstGeom prst="line">
            <a:avLst/>
          </a:prstGeom>
          <a:ln w="21590">
            <a:solidFill>
              <a:srgbClr val="0052D9"/>
            </a:solidFill>
          </a:ln>
          <a:effectLst/>
        </p:spPr>
        <p:style>
          <a:lnRef idx="2">
            <a:schemeClr val="accent1"/>
          </a:lnRef>
          <a:fillRef idx="0">
            <a:schemeClr val="accent1"/>
          </a:fillRef>
          <a:effectRef idx="0">
            <a:schemeClr val="accent1"/>
          </a:effectRef>
          <a:fontRef idx="minor">
            <a:schemeClr val="tx1"/>
          </a:fontRef>
        </p:style>
      </p:cxnSp>
      <p:cxnSp>
        <p:nvCxnSpPr>
          <p:cNvPr id="13" name="Editable connector"/>
          <p:cNvCxnSpPr/>
          <p:nvPr/>
        </p:nvCxnSpPr>
        <p:spPr>
          <a:xfrm flipV="1">
            <a:off x="12865608" y="3803904"/>
            <a:ext cx="0" cy="201168"/>
          </a:xfrm>
          <a:prstGeom prst="line">
            <a:avLst/>
          </a:prstGeom>
          <a:ln w="21590">
            <a:solidFill>
              <a:srgbClr val="0052D9"/>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4" name="Editable connector"/>
          <p:cNvCxnSpPr/>
          <p:nvPr/>
        </p:nvCxnSpPr>
        <p:spPr>
          <a:xfrm>
            <a:off x="7406640" y="3794760"/>
            <a:ext cx="0" cy="457200"/>
          </a:xfrm>
          <a:prstGeom prst="line">
            <a:avLst/>
          </a:prstGeom>
          <a:ln w="21590">
            <a:solidFill>
              <a:srgbClr val="4F5866"/>
            </a:solidFill>
            <a:tailEnd type="triangle"/>
          </a:ln>
          <a:effectLst/>
        </p:spPr>
        <p:style>
          <a:lnRef idx="2">
            <a:schemeClr val="accent1"/>
          </a:lnRef>
          <a:fillRef idx="0">
            <a:schemeClr val="accent1"/>
          </a:fillRef>
          <a:effectRef idx="0">
            <a:schemeClr val="accent1"/>
          </a:effectRef>
          <a:fontRef idx="minor">
            <a:schemeClr val="tx1"/>
          </a:fontRef>
        </p:style>
      </p:cxnSp>
      <p:sp>
        <p:nvSpPr>
          <p:cNvPr id="15" name="A  Device"/>
          <p:cNvSpPr/>
          <p:nvPr/>
        </p:nvSpPr>
        <p:spPr>
          <a:xfrm>
            <a:off x="548640" y="1901952"/>
            <a:ext cx="2148840" cy="1901952"/>
          </a:xfrm>
          <a:prstGeom prst="rect">
            <a:avLst/>
          </a:prstGeom>
          <a:solidFill>
            <a:srgbClr val="FFFFFF"/>
          </a:solidFill>
          <a:ln w="19050">
            <a:solidFill>
              <a:srgbClr val="1B223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A  Device"/>
          <p:cNvSpPr txBox="1"/>
          <p:nvPr/>
        </p:nvSpPr>
        <p:spPr>
          <a:xfrm>
            <a:off x="731520" y="2048256"/>
            <a:ext cx="1783080" cy="363728"/>
          </a:xfrm>
          <a:prstGeom prst="rect">
            <a:avLst/>
          </a:prstGeom>
          <a:noFill/>
        </p:spPr>
        <p:txBody>
          <a:bodyPr wrap="none" lIns="0" rIns="0" tIns="0" bIns="0" anchor="t">
            <a:noAutofit/>
          </a:bodyPr>
          <a:lstStyle/>
          <a:p>
            <a:pPr algn="l">
              <a:lnSpc>
                <a:spcPct val="110000"/>
              </a:lnSpc>
              <a:spcBef>
                <a:spcPts val="0"/>
              </a:spcBef>
              <a:spcAft>
                <a:spcPts val="0"/>
              </a:spcAft>
              <a:defRPr sz="2300" b="1">
                <a:solidFill>
                  <a:srgbClr val="1B2230"/>
                </a:solidFill>
                <a:latin typeface="Arial"/>
              </a:defRPr>
            </a:pPr>
            <a:r>
              <a:t>A Device</a:t>
            </a:r>
          </a:p>
        </p:txBody>
      </p:sp>
      <p:sp>
        <p:nvSpPr>
          <p:cNvPr id="17" name="Browser&#10;Safety answers stay here"/>
          <p:cNvSpPr txBox="1"/>
          <p:nvPr/>
        </p:nvSpPr>
        <p:spPr>
          <a:xfrm>
            <a:off x="731520" y="2576576"/>
            <a:ext cx="1783080" cy="1117599"/>
          </a:xfrm>
          <a:prstGeom prst="rect">
            <a:avLst/>
          </a:prstGeom>
          <a:noFill/>
        </p:spPr>
        <p:txBody>
          <a:bodyPr wrap="none" lIns="0" rIns="0" tIns="0" bIns="0" anchor="t">
            <a:noAutofit/>
          </a:bodyPr>
          <a:lstStyle/>
          <a:p>
            <a:pPr algn="l">
              <a:lnSpc>
                <a:spcPct val="110000"/>
              </a:lnSpc>
              <a:spcBef>
                <a:spcPts val="0"/>
              </a:spcBef>
              <a:spcAft>
                <a:spcPts val="0"/>
              </a:spcAft>
              <a:defRPr sz="1900" b="0">
                <a:solidFill>
                  <a:srgbClr val="1B2230"/>
                </a:solidFill>
                <a:latin typeface="Arial"/>
              </a:defRPr>
            </a:pPr>
            <a:r>
              <a:t>Browser</a:t>
            </a:r>
          </a:p>
          <a:p>
            <a:pPr algn="l">
              <a:lnSpc>
                <a:spcPct val="110000"/>
              </a:lnSpc>
              <a:spcBef>
                <a:spcPts val="0"/>
              </a:spcBef>
              <a:spcAft>
                <a:spcPts val="0"/>
              </a:spcAft>
              <a:defRPr sz="1900" b="0">
                <a:solidFill>
                  <a:srgbClr val="1B2230"/>
                </a:solidFill>
                <a:latin typeface="Arial"/>
              </a:defRPr>
            </a:pPr>
            <a:r>
              <a:t>Safety answers</a:t>
            </a:r>
          </a:p>
          <a:p>
            <a:pPr algn="l">
              <a:lnSpc>
                <a:spcPct val="110000"/>
              </a:lnSpc>
              <a:spcBef>
                <a:spcPts val="0"/>
              </a:spcBef>
              <a:spcAft>
                <a:spcPts val="0"/>
              </a:spcAft>
              <a:defRPr sz="1900" b="0">
                <a:solidFill>
                  <a:srgbClr val="1B2230"/>
                </a:solidFill>
                <a:latin typeface="Arial"/>
              </a:defRPr>
            </a:pPr>
            <a:r>
              <a:t>stay here</a:t>
            </a:r>
          </a:p>
        </p:txBody>
      </p:sp>
      <p:sp>
        <p:nvSpPr>
          <p:cNvPr id="18" name="B  Vercel server"/>
          <p:cNvSpPr/>
          <p:nvPr/>
        </p:nvSpPr>
        <p:spPr>
          <a:xfrm>
            <a:off x="3154680" y="1901952"/>
            <a:ext cx="2377440" cy="1901952"/>
          </a:xfrm>
          <a:prstGeom prst="rect">
            <a:avLst/>
          </a:prstGeom>
          <a:solidFill>
            <a:srgbClr val="DCEFE9"/>
          </a:solidFill>
          <a:ln w="19050">
            <a:solidFill>
              <a:srgbClr val="0D5E4F"/>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B  Vercel server"/>
          <p:cNvSpPr txBox="1"/>
          <p:nvPr/>
        </p:nvSpPr>
        <p:spPr>
          <a:xfrm>
            <a:off x="3337560" y="2048256"/>
            <a:ext cx="2011680" cy="690880"/>
          </a:xfrm>
          <a:prstGeom prst="rect">
            <a:avLst/>
          </a:prstGeom>
          <a:noFill/>
        </p:spPr>
        <p:txBody>
          <a:bodyPr wrap="none" lIns="0" rIns="0" tIns="0" bIns="0" anchor="t">
            <a:noAutofit/>
          </a:bodyPr>
          <a:lstStyle/>
          <a:p>
            <a:pPr algn="l">
              <a:lnSpc>
                <a:spcPct val="110000"/>
              </a:lnSpc>
              <a:spcBef>
                <a:spcPts val="0"/>
              </a:spcBef>
              <a:spcAft>
                <a:spcPts val="0"/>
              </a:spcAft>
              <a:defRPr sz="2300" b="1">
                <a:solidFill>
                  <a:srgbClr val="0D5E4F"/>
                </a:solidFill>
                <a:latin typeface="Arial"/>
              </a:defRPr>
            </a:pPr>
            <a:r>
              <a:t>B Vercel</a:t>
            </a:r>
          </a:p>
          <a:p>
            <a:pPr algn="l">
              <a:lnSpc>
                <a:spcPct val="110000"/>
              </a:lnSpc>
              <a:spcBef>
                <a:spcPts val="0"/>
              </a:spcBef>
              <a:spcAft>
                <a:spcPts val="0"/>
              </a:spcAft>
              <a:defRPr sz="2300" b="1">
                <a:solidFill>
                  <a:srgbClr val="0D5E4F"/>
                </a:solidFill>
                <a:latin typeface="Arial"/>
              </a:defRPr>
            </a:pPr>
            <a:r>
              <a:t>server</a:t>
            </a:r>
          </a:p>
        </p:txBody>
      </p:sp>
      <p:sp>
        <p:nvSpPr>
          <p:cNvPr id="20" name="Server actions&#10;Holds API token"/>
          <p:cNvSpPr txBox="1"/>
          <p:nvPr/>
        </p:nvSpPr>
        <p:spPr>
          <a:xfrm>
            <a:off x="3337560" y="2903728"/>
            <a:ext cx="2011680" cy="790447"/>
          </a:xfrm>
          <a:prstGeom prst="rect">
            <a:avLst/>
          </a:prstGeom>
          <a:noFill/>
        </p:spPr>
        <p:txBody>
          <a:bodyPr wrap="none" lIns="0" rIns="0" tIns="0" bIns="0" anchor="t">
            <a:noAutofit/>
          </a:bodyPr>
          <a:lstStyle/>
          <a:p>
            <a:pPr algn="l">
              <a:lnSpc>
                <a:spcPct val="110000"/>
              </a:lnSpc>
              <a:spcBef>
                <a:spcPts val="0"/>
              </a:spcBef>
              <a:spcAft>
                <a:spcPts val="0"/>
              </a:spcAft>
              <a:defRPr sz="1900" b="0">
                <a:solidFill>
                  <a:srgbClr val="1B2230"/>
                </a:solidFill>
                <a:latin typeface="Arial"/>
              </a:defRPr>
            </a:pPr>
            <a:r>
              <a:t>Server actions</a:t>
            </a:r>
          </a:p>
          <a:p>
            <a:pPr algn="l">
              <a:lnSpc>
                <a:spcPct val="110000"/>
              </a:lnSpc>
              <a:spcBef>
                <a:spcPts val="0"/>
              </a:spcBef>
              <a:spcAft>
                <a:spcPts val="0"/>
              </a:spcAft>
              <a:defRPr sz="1900" b="0">
                <a:solidFill>
                  <a:srgbClr val="1B2230"/>
                </a:solidFill>
                <a:latin typeface="Arial"/>
              </a:defRPr>
            </a:pPr>
            <a:r>
              <a:t>Holds API token</a:t>
            </a:r>
          </a:p>
        </p:txBody>
      </p:sp>
      <p:sp>
        <p:nvSpPr>
          <p:cNvPr id="21" name="C  Render API"/>
          <p:cNvSpPr/>
          <p:nvPr/>
        </p:nvSpPr>
        <p:spPr>
          <a:xfrm>
            <a:off x="5989320" y="1901952"/>
            <a:ext cx="2788920" cy="1901952"/>
          </a:xfrm>
          <a:prstGeom prst="rect">
            <a:avLst/>
          </a:prstGeom>
          <a:solidFill>
            <a:srgbClr val="DCEFE9"/>
          </a:solidFill>
          <a:ln w="19050">
            <a:solidFill>
              <a:srgbClr val="0D5E4F"/>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  Render API"/>
          <p:cNvSpPr txBox="1"/>
          <p:nvPr/>
        </p:nvSpPr>
        <p:spPr>
          <a:xfrm>
            <a:off x="6172200" y="2048256"/>
            <a:ext cx="2423160" cy="363728"/>
          </a:xfrm>
          <a:prstGeom prst="rect">
            <a:avLst/>
          </a:prstGeom>
          <a:noFill/>
        </p:spPr>
        <p:txBody>
          <a:bodyPr wrap="none" lIns="0" rIns="0" tIns="0" bIns="0" anchor="t">
            <a:noAutofit/>
          </a:bodyPr>
          <a:lstStyle/>
          <a:p>
            <a:pPr algn="l">
              <a:lnSpc>
                <a:spcPct val="110000"/>
              </a:lnSpc>
              <a:spcBef>
                <a:spcPts val="0"/>
              </a:spcBef>
              <a:spcAft>
                <a:spcPts val="0"/>
              </a:spcAft>
              <a:defRPr sz="2300" b="1">
                <a:solidFill>
                  <a:srgbClr val="0D5E4F"/>
                </a:solidFill>
                <a:latin typeface="Arial"/>
              </a:defRPr>
            </a:pPr>
            <a:r>
              <a:t>C Render API</a:t>
            </a:r>
          </a:p>
        </p:txBody>
      </p:sp>
      <p:sp>
        <p:nvSpPr>
          <p:cNvPr id="23" name="Journey decisions&#10;AppKey and DB credentials"/>
          <p:cNvSpPr txBox="1"/>
          <p:nvPr/>
        </p:nvSpPr>
        <p:spPr>
          <a:xfrm>
            <a:off x="6172200" y="2576576"/>
            <a:ext cx="2423160" cy="1117599"/>
          </a:xfrm>
          <a:prstGeom prst="rect">
            <a:avLst/>
          </a:prstGeom>
          <a:noFill/>
        </p:spPr>
        <p:txBody>
          <a:bodyPr wrap="none" lIns="0" rIns="0" tIns="0" bIns="0" anchor="t">
            <a:noAutofit/>
          </a:bodyPr>
          <a:lstStyle/>
          <a:p>
            <a:pPr algn="l">
              <a:lnSpc>
                <a:spcPct val="110000"/>
              </a:lnSpc>
              <a:spcBef>
                <a:spcPts val="0"/>
              </a:spcBef>
              <a:spcAft>
                <a:spcPts val="0"/>
              </a:spcAft>
              <a:defRPr sz="1900" b="0">
                <a:solidFill>
                  <a:srgbClr val="1B2230"/>
                </a:solidFill>
                <a:latin typeface="Arial"/>
              </a:defRPr>
            </a:pPr>
            <a:r>
              <a:t>Journey decisions</a:t>
            </a:r>
          </a:p>
          <a:p>
            <a:pPr algn="l">
              <a:lnSpc>
                <a:spcPct val="110000"/>
              </a:lnSpc>
              <a:spcBef>
                <a:spcPts val="0"/>
              </a:spcBef>
              <a:spcAft>
                <a:spcPts val="0"/>
              </a:spcAft>
              <a:defRPr sz="1900" b="0">
                <a:solidFill>
                  <a:srgbClr val="1B2230"/>
                </a:solidFill>
                <a:latin typeface="Arial"/>
              </a:defRPr>
            </a:pPr>
            <a:r>
              <a:t>AppKey and DB</a:t>
            </a:r>
          </a:p>
          <a:p>
            <a:pPr algn="l">
              <a:lnSpc>
                <a:spcPct val="110000"/>
              </a:lnSpc>
              <a:spcBef>
                <a:spcPts val="0"/>
              </a:spcBef>
              <a:spcAft>
                <a:spcPts val="0"/>
              </a:spcAft>
              <a:defRPr sz="1900" b="0">
                <a:solidFill>
                  <a:srgbClr val="1B2230"/>
                </a:solidFill>
                <a:latin typeface="Arial"/>
              </a:defRPr>
            </a:pPr>
            <a:r>
              <a:t>credentials</a:t>
            </a:r>
          </a:p>
        </p:txBody>
      </p:sp>
      <p:sp>
        <p:nvSpPr>
          <p:cNvPr id="24" name="D  Database"/>
          <p:cNvSpPr/>
          <p:nvPr/>
        </p:nvSpPr>
        <p:spPr>
          <a:xfrm>
            <a:off x="9372600" y="1901952"/>
            <a:ext cx="1920240" cy="1901952"/>
          </a:xfrm>
          <a:prstGeom prst="rect">
            <a:avLst/>
          </a:prstGeom>
          <a:solidFill>
            <a:srgbClr val="DCEFE9"/>
          </a:solidFill>
          <a:ln w="19050">
            <a:solidFill>
              <a:srgbClr val="0D5E4F"/>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D  Database"/>
          <p:cNvSpPr txBox="1"/>
          <p:nvPr/>
        </p:nvSpPr>
        <p:spPr>
          <a:xfrm>
            <a:off x="9555480" y="2048256"/>
            <a:ext cx="1554480" cy="662432"/>
          </a:xfrm>
          <a:prstGeom prst="rect">
            <a:avLst/>
          </a:prstGeom>
          <a:noFill/>
        </p:spPr>
        <p:txBody>
          <a:bodyPr wrap="none" lIns="0" rIns="0" tIns="0" bIns="0" anchor="t">
            <a:noAutofit/>
          </a:bodyPr>
          <a:lstStyle/>
          <a:p>
            <a:pPr algn="l">
              <a:lnSpc>
                <a:spcPct val="110000"/>
              </a:lnSpc>
              <a:spcBef>
                <a:spcPts val="0"/>
              </a:spcBef>
              <a:spcAft>
                <a:spcPts val="0"/>
              </a:spcAft>
              <a:defRPr sz="2200" b="1">
                <a:solidFill>
                  <a:srgbClr val="0D5E4F"/>
                </a:solidFill>
                <a:latin typeface="Arial"/>
              </a:defRPr>
            </a:pPr>
            <a:r>
              <a:t>D</a:t>
            </a:r>
          </a:p>
          <a:p>
            <a:pPr algn="l">
              <a:lnSpc>
                <a:spcPct val="110000"/>
              </a:lnSpc>
              <a:spcBef>
                <a:spcPts val="0"/>
              </a:spcBef>
              <a:spcAft>
                <a:spcPts val="0"/>
              </a:spcAft>
              <a:defRPr sz="2200" b="1">
                <a:solidFill>
                  <a:srgbClr val="0D5E4F"/>
                </a:solidFill>
                <a:latin typeface="Arial"/>
              </a:defRPr>
            </a:pPr>
            <a:r>
              <a:t>Database</a:t>
            </a:r>
          </a:p>
        </p:txBody>
      </p:sp>
      <p:sp>
        <p:nvSpPr>
          <p:cNvPr id="26" name="Supabase&#10;Append-only"/>
          <p:cNvSpPr txBox="1"/>
          <p:nvPr/>
        </p:nvSpPr>
        <p:spPr>
          <a:xfrm>
            <a:off x="9555480" y="2875280"/>
            <a:ext cx="1554480" cy="818895"/>
          </a:xfrm>
          <a:prstGeom prst="rect">
            <a:avLst/>
          </a:prstGeom>
          <a:noFill/>
        </p:spPr>
        <p:txBody>
          <a:bodyPr wrap="none" lIns="0" rIns="0" tIns="0" bIns="0" anchor="t">
            <a:noAutofit/>
          </a:bodyPr>
          <a:lstStyle/>
          <a:p>
            <a:pPr algn="l">
              <a:lnSpc>
                <a:spcPct val="110000"/>
              </a:lnSpc>
              <a:spcBef>
                <a:spcPts val="0"/>
              </a:spcBef>
              <a:spcAft>
                <a:spcPts val="0"/>
              </a:spcAft>
              <a:defRPr sz="1900" b="0">
                <a:solidFill>
                  <a:srgbClr val="1B2230"/>
                </a:solidFill>
                <a:latin typeface="Arial"/>
              </a:defRPr>
            </a:pPr>
            <a:r>
              <a:t>Supabase</a:t>
            </a:r>
          </a:p>
          <a:p>
            <a:pPr algn="l">
              <a:lnSpc>
                <a:spcPct val="110000"/>
              </a:lnSpc>
              <a:spcBef>
                <a:spcPts val="0"/>
              </a:spcBef>
              <a:spcAft>
                <a:spcPts val="0"/>
              </a:spcAft>
              <a:defRPr sz="1900" b="0">
                <a:solidFill>
                  <a:srgbClr val="1B2230"/>
                </a:solidFill>
                <a:latin typeface="Arial"/>
              </a:defRPr>
            </a:pPr>
            <a:r>
              <a:t>Append-only</a:t>
            </a:r>
          </a:p>
        </p:txBody>
      </p:sp>
      <p:sp>
        <p:nvSpPr>
          <p:cNvPr id="27" name="E  Tencent ADP"/>
          <p:cNvSpPr/>
          <p:nvPr/>
        </p:nvSpPr>
        <p:spPr>
          <a:xfrm>
            <a:off x="11658600" y="1901952"/>
            <a:ext cx="2423160" cy="1901952"/>
          </a:xfrm>
          <a:prstGeom prst="rect">
            <a:avLst/>
          </a:prstGeom>
          <a:solidFill>
            <a:srgbClr val="E3ECFC"/>
          </a:solidFill>
          <a:ln w="19050">
            <a:solidFill>
              <a:srgbClr val="0052D9"/>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E  Tencent ADP"/>
          <p:cNvSpPr txBox="1"/>
          <p:nvPr/>
        </p:nvSpPr>
        <p:spPr>
          <a:xfrm>
            <a:off x="11841480" y="2048256"/>
            <a:ext cx="2057400" cy="662432"/>
          </a:xfrm>
          <a:prstGeom prst="rect">
            <a:avLst/>
          </a:prstGeom>
          <a:noFill/>
        </p:spPr>
        <p:txBody>
          <a:bodyPr wrap="none" lIns="0" rIns="0" tIns="0" bIns="0" anchor="t">
            <a:noAutofit/>
          </a:bodyPr>
          <a:lstStyle/>
          <a:p>
            <a:pPr algn="l">
              <a:lnSpc>
                <a:spcPct val="110000"/>
              </a:lnSpc>
              <a:spcBef>
                <a:spcPts val="0"/>
              </a:spcBef>
              <a:spcAft>
                <a:spcPts val="0"/>
              </a:spcAft>
              <a:defRPr sz="2200" b="1">
                <a:solidFill>
                  <a:srgbClr val="0052D9"/>
                </a:solidFill>
                <a:latin typeface="Arial"/>
              </a:defRPr>
            </a:pPr>
            <a:r>
              <a:t>E Tencent</a:t>
            </a:r>
          </a:p>
          <a:p>
            <a:pPr algn="l">
              <a:lnSpc>
                <a:spcPct val="110000"/>
              </a:lnSpc>
              <a:spcBef>
                <a:spcPts val="0"/>
              </a:spcBef>
              <a:spcAft>
                <a:spcPts val="0"/>
              </a:spcAft>
              <a:defRPr sz="2200" b="1">
                <a:solidFill>
                  <a:srgbClr val="0052D9"/>
                </a:solidFill>
                <a:latin typeface="Arial"/>
              </a:defRPr>
            </a:pPr>
            <a:r>
              <a:t>ADP</a:t>
            </a:r>
          </a:p>
        </p:txBody>
      </p:sp>
      <p:sp>
        <p:nvSpPr>
          <p:cNvPr id="29" name="HTTPS API&#10;Extraction only"/>
          <p:cNvSpPr txBox="1"/>
          <p:nvPr/>
        </p:nvSpPr>
        <p:spPr>
          <a:xfrm>
            <a:off x="11841480" y="2875280"/>
            <a:ext cx="2057400" cy="818895"/>
          </a:xfrm>
          <a:prstGeom prst="rect">
            <a:avLst/>
          </a:prstGeom>
          <a:noFill/>
        </p:spPr>
        <p:txBody>
          <a:bodyPr wrap="none" lIns="0" rIns="0" tIns="0" bIns="0" anchor="t">
            <a:noAutofit/>
          </a:bodyPr>
          <a:lstStyle/>
          <a:p>
            <a:pPr algn="l">
              <a:lnSpc>
                <a:spcPct val="110000"/>
              </a:lnSpc>
              <a:spcBef>
                <a:spcPts val="0"/>
              </a:spcBef>
              <a:spcAft>
                <a:spcPts val="0"/>
              </a:spcAft>
              <a:defRPr sz="1900" b="0">
                <a:solidFill>
                  <a:srgbClr val="1B2230"/>
                </a:solidFill>
                <a:latin typeface="Arial"/>
              </a:defRPr>
            </a:pPr>
            <a:r>
              <a:t>HTTPS API</a:t>
            </a:r>
          </a:p>
          <a:p>
            <a:pPr algn="l">
              <a:lnSpc>
                <a:spcPct val="110000"/>
              </a:lnSpc>
              <a:spcBef>
                <a:spcPts val="0"/>
              </a:spcBef>
              <a:spcAft>
                <a:spcPts val="0"/>
              </a:spcAft>
              <a:defRPr sz="1900" b="0">
                <a:solidFill>
                  <a:srgbClr val="1B2230"/>
                </a:solidFill>
                <a:latin typeface="Arial"/>
              </a:defRPr>
            </a:pPr>
            <a:r>
              <a:t>Extraction only</a:t>
            </a:r>
          </a:p>
        </p:txBody>
      </p:sp>
      <p:sp>
        <p:nvSpPr>
          <p:cNvPr id="30" name="Editable boundary"/>
          <p:cNvSpPr/>
          <p:nvPr/>
        </p:nvSpPr>
        <p:spPr>
          <a:xfrm>
            <a:off x="5989320" y="4206240"/>
            <a:ext cx="8092440" cy="457200"/>
          </a:xfrm>
          <a:prstGeom prst="rect">
            <a:avLst/>
          </a:prstGeom>
          <a:pattFill prst="ltDnDiag">
            <a:fgClr>
              <a:srgbClr val="E3E6E2"/>
            </a:fgClr>
            <a:bgClr>
              <a:srgbClr val="F3F5F2"/>
            </a:bgClr>
          </a:pattFill>
          <a:ln w="19050">
            <a:solidFill>
              <a:srgbClr val="4F5866"/>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  Provider - simulated, local-sim, in-process"/>
          <p:cNvSpPr txBox="1"/>
          <p:nvPr/>
        </p:nvSpPr>
        <p:spPr>
          <a:xfrm>
            <a:off x="6172200" y="4297680"/>
            <a:ext cx="7680960" cy="310896"/>
          </a:xfrm>
          <a:prstGeom prst="rect">
            <a:avLst/>
          </a:prstGeom>
          <a:noFill/>
        </p:spPr>
        <p:txBody>
          <a:bodyPr wrap="none" lIns="0" rIns="0" tIns="0" bIns="0" anchor="t">
            <a:noAutofit/>
          </a:bodyPr>
          <a:lstStyle/>
          <a:p>
            <a:pPr algn="l">
              <a:lnSpc>
                <a:spcPct val="110000"/>
              </a:lnSpc>
              <a:spcBef>
                <a:spcPts val="0"/>
              </a:spcBef>
              <a:spcAft>
                <a:spcPts val="0"/>
              </a:spcAft>
              <a:defRPr sz="2000" b="1">
                <a:solidFill>
                  <a:srgbClr val="1B2230"/>
                </a:solidFill>
                <a:latin typeface="Arial"/>
              </a:defRPr>
            </a:pPr>
            <a:r>
              <a:t>F Provider - simulated, local-sim, in-process</a:t>
            </a:r>
          </a:p>
        </p:txBody>
      </p:sp>
      <p:graphicFrame>
        <p:nvGraphicFramePr>
          <p:cNvPr id="32" name="Editable comparison table"/>
          <p:cNvGraphicFramePr>
            <a:graphicFrameLocks noGrp="1"/>
          </p:cNvGraphicFramePr>
          <p:nvPr/>
        </p:nvGraphicFramePr>
        <p:xfrm>
          <a:off x="548640" y="4818888"/>
          <a:ext cx="13533120" cy="2350008"/>
        </p:xfrm>
        <a:graphic>
          <a:graphicData uri="http://schemas.openxmlformats.org/drawingml/2006/table">
            <a:tbl>
              <a:tblPr firstRow="1" bandRow="1">
                <a:tableStyleId>{5C22544A-7EE6-4342-B048-85BDC9FD1C3A}</a:tableStyleId>
              </a:tblPr>
              <a:tblGrid>
                <a:gridCol w="1371600"/>
                <a:gridCol w="5394960"/>
                <a:gridCol w="6766560"/>
              </a:tblGrid>
              <a:tr h="384048">
                <a:tc>
                  <a:txBody>
                    <a:bodyPr lIns="0" rIns="0" tIns="0" bIns="0" wrap="none" anchor="t">
                      <a:noAutofit/>
                    </a:bodyPr>
                    <a:lstStyle/>
                    <a:p>
                      <a:pPr algn="l">
                        <a:lnSpc>
                          <a:spcPct val="110000"/>
                        </a:lnSpc>
                        <a:spcBef>
                          <a:spcPts val="0"/>
                        </a:spcBef>
                        <a:spcAft>
                          <a:spcPts val="0"/>
                        </a:spcAft>
                        <a:defRPr sz="1800" b="1">
                          <a:solidFill>
                            <a:srgbClr val="FFFFFF"/>
                          </a:solidFill>
                          <a:latin typeface="Arial"/>
                        </a:defRPr>
                      </a:pPr>
                      <a:r>
                        <a:t>Crossing</a:t>
                      </a:r>
                    </a:p>
                  </a:txBody>
                  <a:tcPr marL="128016" marR="128016" marT="59436" marB="59436">
                    <a:solidFill>
                      <a:srgbClr val="0D5E4F"/>
                    </a:solidFill>
                  </a:tcPr>
                </a:tc>
                <a:tc>
                  <a:txBody>
                    <a:bodyPr lIns="0" rIns="0" tIns="0" bIns="0" wrap="none" anchor="t">
                      <a:noAutofit/>
                    </a:bodyPr>
                    <a:lstStyle/>
                    <a:p>
                      <a:pPr algn="l">
                        <a:lnSpc>
                          <a:spcPct val="110000"/>
                        </a:lnSpc>
                        <a:spcBef>
                          <a:spcPts val="0"/>
                        </a:spcBef>
                        <a:spcAft>
                          <a:spcPts val="0"/>
                        </a:spcAft>
                        <a:defRPr sz="1800" b="1">
                          <a:solidFill>
                            <a:srgbClr val="FFFFFF"/>
                          </a:solidFill>
                          <a:latin typeface="Arial"/>
                        </a:defRPr>
                      </a:pPr>
                      <a:r>
                        <a:t>What crosses</a:t>
                      </a:r>
                    </a:p>
                  </a:txBody>
                  <a:tcPr marL="128016" marR="128016" marT="59436" marB="59436">
                    <a:solidFill>
                      <a:srgbClr val="0D5E4F"/>
                    </a:solidFill>
                  </a:tcPr>
                </a:tc>
                <a:tc>
                  <a:txBody>
                    <a:bodyPr lIns="0" rIns="0" tIns="0" bIns="0" wrap="none" anchor="t">
                      <a:noAutofit/>
                    </a:bodyPr>
                    <a:lstStyle/>
                    <a:p>
                      <a:pPr algn="l">
                        <a:lnSpc>
                          <a:spcPct val="110000"/>
                        </a:lnSpc>
                        <a:spcBef>
                          <a:spcPts val="0"/>
                        </a:spcBef>
                        <a:spcAft>
                          <a:spcPts val="0"/>
                        </a:spcAft>
                        <a:defRPr sz="1800" b="1">
                          <a:solidFill>
                            <a:srgbClr val="FFFFFF"/>
                          </a:solidFill>
                          <a:latin typeface="Arial"/>
                        </a:defRPr>
                      </a:pPr>
                      <a:r>
                        <a:t>What does not cross</a:t>
                      </a:r>
                    </a:p>
                  </a:txBody>
                  <a:tcPr marL="128016" marR="128016" marT="59436" marB="59436">
                    <a:solidFill>
                      <a:srgbClr val="0D5E4F"/>
                    </a:solidFill>
                  </a:tcPr>
                </a:tc>
              </a:tr>
              <a:tr h="393192">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A / B</a:t>
                      </a:r>
                    </a:p>
                  </a:txBody>
                  <a:tcPr marL="128016" marR="128016" marT="59436" marB="59436">
                    <a:solidFill>
                      <a:srgbClr val="FFFFFF"/>
                    </a:solidFill>
                  </a:tcPr>
                </a:tc>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Inputs and rendered views</a:t>
                      </a:r>
                    </a:p>
                  </a:txBody>
                  <a:tcPr marL="128016" marR="128016" marT="59436" marB="59436">
                    <a:solidFill>
                      <a:srgbClr val="FFFFFF"/>
                    </a:solidFill>
                  </a:tcPr>
                </a:tc>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No server secrets. Safety answers stay on device.</a:t>
                      </a:r>
                    </a:p>
                  </a:txBody>
                  <a:tcPr marL="128016" marR="128016" marT="59436" marB="59436">
                    <a:solidFill>
                      <a:srgbClr val="FFFFFF"/>
                    </a:solidFill>
                  </a:tcPr>
                </a:tc>
              </a:tr>
              <a:tr h="393192">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B / C</a:t>
                      </a:r>
                    </a:p>
                  </a:txBody>
                  <a:tcPr marL="128016" marR="128016" marT="59436" marB="59436">
                    <a:solidFill>
                      <a:srgbClr val="F3F5F2"/>
                    </a:solidFill>
                  </a:tcPr>
                </a:tc>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Bearer token, commands and projections</a:t>
                      </a:r>
                    </a:p>
                  </a:txBody>
                  <a:tcPr marL="128016" marR="128016" marT="59436" marB="59436">
                    <a:solidFill>
                      <a:srgbClr val="F3F5F2"/>
                    </a:solidFill>
                  </a:tcPr>
                </a:tc>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No AppKey or database credentials to Vercel.</a:t>
                      </a:r>
                    </a:p>
                  </a:txBody>
                  <a:tcPr marL="128016" marR="128016" marT="59436" marB="59436">
                    <a:solidFill>
                      <a:srgbClr val="F3F5F2"/>
                    </a:solidFill>
                  </a:tcPr>
                </a:tc>
              </a:tr>
              <a:tr h="393192">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C / D</a:t>
                      </a:r>
                    </a:p>
                  </a:txBody>
                  <a:tcPr marL="128016" marR="128016" marT="59436" marB="59436">
                    <a:solidFill>
                      <a:srgbClr val="FFFFFF"/>
                    </a:solidFill>
                  </a:tcPr>
                </a:tc>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Words, events, commands and reservations</a:t>
                      </a:r>
                    </a:p>
                  </a:txBody>
                  <a:tcPr marL="128016" marR="128016" marT="59436" marB="59436">
                    <a:solidFill>
                      <a:srgbClr val="FFFFFF"/>
                    </a:solidFill>
                  </a:tcPr>
                </a:tc>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No safety answers, AppKey or raw model stream.</a:t>
                      </a:r>
                    </a:p>
                  </a:txBody>
                  <a:tcPr marL="128016" marR="128016" marT="59436" marB="59436">
                    <a:solidFill>
                      <a:srgbClr val="FFFFFF"/>
                    </a:solidFill>
                  </a:tcPr>
                </a:tc>
              </a:tr>
              <a:tr h="393192">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C / E</a:t>
                      </a:r>
                    </a:p>
                  </a:txBody>
                  <a:tcPr marL="128016" marR="128016" marT="59436" marB="59436">
                    <a:solidFill>
                      <a:srgbClr val="F3F5F2"/>
                    </a:solidFill>
                  </a:tcPr>
                </a:tc>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Confirmed words, schema, vocabulary and IDs</a:t>
                      </a:r>
                    </a:p>
                  </a:txBody>
                  <a:tcPr marL="128016" marR="128016" marT="59436" marB="59436">
                    <a:solidFill>
                      <a:srgbClr val="F3F5F2"/>
                    </a:solidFill>
                  </a:tcPr>
                </a:tc>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No expected plan, consent record or patient profile.</a:t>
                      </a:r>
                    </a:p>
                  </a:txBody>
                  <a:tcPr marL="128016" marR="128016" marT="59436" marB="59436">
                    <a:solidFill>
                      <a:srgbClr val="F3F5F2"/>
                    </a:solidFill>
                  </a:tcPr>
                </a:tc>
              </a:tr>
              <a:tr h="393192">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C / F</a:t>
                      </a:r>
                    </a:p>
                  </a:txBody>
                  <a:tcPr marL="128016" marR="128016" marT="59436" marB="59436">
                    <a:solidFill>
                      <a:srgbClr val="FFFFFF"/>
                    </a:solidFill>
                  </a:tcPr>
                </a:tc>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Permitted action and deadline, failure callback</a:t>
                      </a:r>
                    </a:p>
                  </a:txBody>
                  <a:tcPr marL="128016" marR="128016" marT="59436" marB="59436">
                    <a:solidFill>
                      <a:srgbClr val="FFFFFF"/>
                    </a:solidFill>
                  </a:tcPr>
                </a:tc>
                <a:tc>
                  <a:txBody>
                    <a:bodyPr lIns="0" rIns="0" tIns="0" bIns="0" wrap="none" anchor="t">
                      <a:noAutofit/>
                    </a:bodyPr>
                    <a:lstStyle/>
                    <a:p>
                      <a:pPr algn="l">
                        <a:lnSpc>
                          <a:spcPct val="110000"/>
                        </a:lnSpc>
                        <a:spcBef>
                          <a:spcPts val="0"/>
                        </a:spcBef>
                        <a:spcAft>
                          <a:spcPts val="0"/>
                        </a:spcAft>
                        <a:defRPr sz="1800" b="0">
                          <a:solidFill>
                            <a:srgbClr val="1B2230"/>
                          </a:solidFill>
                          <a:latin typeface="Arial"/>
                        </a:defRPr>
                      </a:pPr>
                      <a:r>
                        <a:t>No real provider endpoint or evidence of care.</a:t>
                      </a:r>
                    </a:p>
                  </a:txBody>
                  <a:tcPr marL="128016" marR="128016" marT="59436" marB="59436">
                    <a:solidFill>
                      <a:srgbClr val="FFFFFF"/>
                    </a:solidFill>
                  </a:tcPr>
                </a:tc>
              </a:tr>
            </a:tbl>
          </a:graphicData>
        </a:graphic>
      </p:graphicFrame>
      <p:sp>
        <p:nvSpPr>
          <p:cNvPr id="33" name="AppKey goes only to Tencent API authentication over HTT"/>
          <p:cNvSpPr txBox="1"/>
          <p:nvPr/>
        </p:nvSpPr>
        <p:spPr>
          <a:xfrm>
            <a:off x="603504" y="7434072"/>
            <a:ext cx="13350240" cy="365760"/>
          </a:xfrm>
          <a:prstGeom prst="rect">
            <a:avLst/>
          </a:prstGeom>
          <a:noFill/>
        </p:spPr>
        <p:txBody>
          <a:bodyPr wrap="none" lIns="0" rIns="0" tIns="0" bIns="0" anchor="t">
            <a:noAutofit/>
          </a:bodyPr>
          <a:lstStyle/>
          <a:p>
            <a:pPr algn="l">
              <a:lnSpc>
                <a:spcPct val="110000"/>
              </a:lnSpc>
              <a:spcBef>
                <a:spcPts val="0"/>
              </a:spcBef>
              <a:spcAft>
                <a:spcPts val="0"/>
              </a:spcAft>
              <a:defRPr sz="1900" b="0">
                <a:solidFill>
                  <a:srgbClr val="0052D9"/>
                </a:solidFill>
                <a:latin typeface="Arial"/>
              </a:defRPr>
            </a:pPr>
            <a:r>
              <a:t>AppKey goes only to Tencent API authentication over HTTPS. It is absent from the model prompt and browser.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5F2"/>
        </a:solidFill>
        <a:effectLst/>
      </p:bgPr>
    </p:bg>
    <p:spTree>
      <p:nvGrpSpPr>
        <p:cNvPr id="1" name=""/>
        <p:cNvGrpSpPr/>
        <p:nvPr/>
      </p:nvGrpSpPr>
      <p:grpSpPr/>
      <p:sp>
        <p:nvSpPr>
          <p:cNvPr id="2" name="Slide title"/>
          <p:cNvSpPr txBox="1"/>
          <p:nvPr/>
        </p:nvSpPr>
        <p:spPr>
          <a:xfrm>
            <a:off x="548640" y="384048"/>
            <a:ext cx="13533120" cy="621792"/>
          </a:xfrm>
          <a:prstGeom prst="rect">
            <a:avLst/>
          </a:prstGeom>
          <a:noFill/>
        </p:spPr>
        <p:txBody>
          <a:bodyPr wrap="none" lIns="0" rIns="0" tIns="0" bIns="0" anchor="t">
            <a:noAutofit/>
          </a:bodyPr>
          <a:lstStyle/>
          <a:p>
            <a:pPr algn="l">
              <a:lnSpc>
                <a:spcPct val="110000"/>
              </a:lnSpc>
              <a:spcBef>
                <a:spcPts val="0"/>
              </a:spcBef>
              <a:spcAft>
                <a:spcPts val="0"/>
              </a:spcAft>
              <a:defRPr sz="4000" b="1">
                <a:solidFill>
                  <a:srgbClr val="1B2230"/>
                </a:solidFill>
                <a:latin typeface="Arial"/>
              </a:defRPr>
            </a:pPr>
            <a:r>
              <a:t>The model interprets. Code decides.</a:t>
            </a:r>
          </a:p>
        </p:txBody>
      </p:sp>
      <p:sp>
        <p:nvSpPr>
          <p:cNvPr id="3" name="Only confirmed fictional words are eligible. The stored"/>
          <p:cNvSpPr txBox="1"/>
          <p:nvPr/>
        </p:nvSpPr>
        <p:spPr>
          <a:xfrm>
            <a:off x="566928" y="1097280"/>
            <a:ext cx="13441680" cy="530352"/>
          </a:xfrm>
          <a:prstGeom prst="rect">
            <a:avLst/>
          </a:prstGeom>
          <a:noFill/>
        </p:spPr>
        <p:txBody>
          <a:bodyPr wrap="none" lIns="0" rIns="0" tIns="0" bIns="0" anchor="t">
            <a:noAutofit/>
          </a:bodyPr>
          <a:lstStyle/>
          <a:p>
            <a:pPr algn="l">
              <a:lnSpc>
                <a:spcPct val="110000"/>
              </a:lnSpc>
              <a:spcBef>
                <a:spcPts val="0"/>
              </a:spcBef>
              <a:spcAft>
                <a:spcPts val="0"/>
              </a:spcAft>
              <a:defRPr sz="2300" b="0">
                <a:solidFill>
                  <a:srgbClr val="4F5866"/>
                </a:solidFill>
                <a:latin typeface="Arial"/>
              </a:defRPr>
            </a:pPr>
            <a:r>
              <a:t>Only confirmed fictional words are eligible. The stored plan remains the reference.</a:t>
            </a:r>
          </a:p>
        </p:txBody>
      </p:sp>
      <p:cxnSp>
        <p:nvCxnSpPr>
          <p:cNvPr id="4" name="Editable connector"/>
          <p:cNvCxnSpPr/>
          <p:nvPr/>
        </p:nvCxnSpPr>
        <p:spPr>
          <a:xfrm>
            <a:off x="548640" y="7818120"/>
            <a:ext cx="13533120" cy="0"/>
          </a:xfrm>
          <a:prstGeom prst="line">
            <a:avLst/>
          </a:prstGeom>
          <a:ln w="12700">
            <a:solidFill>
              <a:srgbClr val="D3D9D4"/>
            </a:solidFill>
          </a:ln>
          <a:effectLst/>
        </p:spPr>
        <p:style>
          <a:lnRef idx="2">
            <a:schemeClr val="accent1"/>
          </a:lnRef>
          <a:fillRef idx="0">
            <a:schemeClr val="accent1"/>
          </a:fillRef>
          <a:effectRef idx="0">
            <a:schemeClr val="accent1"/>
          </a:effectRef>
          <a:fontRef idx="minor">
            <a:schemeClr val="tx1"/>
          </a:fontRef>
        </p:style>
      </p:cxnSp>
      <p:sp>
        <p:nvSpPr>
          <p:cNvPr id="5" name="Simulated demo. Not medical advice."/>
          <p:cNvSpPr txBox="1"/>
          <p:nvPr/>
        </p:nvSpPr>
        <p:spPr>
          <a:xfrm>
            <a:off x="566928" y="7936992"/>
            <a:ext cx="10972800" cy="228600"/>
          </a:xfrm>
          <a:prstGeom prst="rect">
            <a:avLst/>
          </a:prstGeom>
          <a:noFill/>
        </p:spPr>
        <p:txBody>
          <a:bodyPr wrap="none" lIns="0" rIns="0" tIns="0" bIns="0" anchor="t">
            <a:noAutofit/>
          </a:bodyPr>
          <a:lstStyle/>
          <a:p>
            <a:pPr algn="l">
              <a:lnSpc>
                <a:spcPct val="110000"/>
              </a:lnSpc>
              <a:spcBef>
                <a:spcPts val="0"/>
              </a:spcBef>
              <a:spcAft>
                <a:spcPts val="0"/>
              </a:spcAft>
              <a:defRPr sz="1400" b="0">
                <a:solidFill>
                  <a:srgbClr val="4F5866"/>
                </a:solidFill>
                <a:latin typeface="Arial"/>
              </a:defRPr>
            </a:pPr>
            <a:r>
              <a:t>Simulated demo. Not medical advice.</a:t>
            </a:r>
          </a:p>
        </p:txBody>
      </p:sp>
      <p:sp>
        <p:nvSpPr>
          <p:cNvPr id="6" name="5"/>
          <p:cNvSpPr txBox="1"/>
          <p:nvPr/>
        </p:nvSpPr>
        <p:spPr>
          <a:xfrm>
            <a:off x="13487400" y="7936992"/>
            <a:ext cx="566928" cy="228600"/>
          </a:xfrm>
          <a:prstGeom prst="rect">
            <a:avLst/>
          </a:prstGeom>
          <a:noFill/>
        </p:spPr>
        <p:txBody>
          <a:bodyPr wrap="none" lIns="0" rIns="0" tIns="0" bIns="0" anchor="t">
            <a:noAutofit/>
          </a:bodyPr>
          <a:lstStyle/>
          <a:p>
            <a:pPr algn="r">
              <a:lnSpc>
                <a:spcPct val="110000"/>
              </a:lnSpc>
              <a:spcBef>
                <a:spcPts val="0"/>
              </a:spcBef>
              <a:spcAft>
                <a:spcPts val="0"/>
              </a:spcAft>
              <a:defRPr sz="1400" b="0">
                <a:solidFill>
                  <a:srgbClr val="4F5866"/>
                </a:solidFill>
                <a:latin typeface="Arial"/>
              </a:defRPr>
            </a:pPr>
            <a:r>
              <a:t>5</a:t>
            </a:r>
          </a:p>
        </p:txBody>
      </p:sp>
      <p:cxnSp>
        <p:nvCxnSpPr>
          <p:cNvPr id="7" name="Editable connector"/>
          <p:cNvCxnSpPr/>
          <p:nvPr/>
        </p:nvCxnSpPr>
        <p:spPr>
          <a:xfrm>
            <a:off x="2971800" y="3063240"/>
            <a:ext cx="338328" cy="0"/>
          </a:xfrm>
          <a:prstGeom prst="line">
            <a:avLst/>
          </a:prstGeom>
          <a:ln w="21590">
            <a:solidFill>
              <a:srgbClr val="0052D9"/>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8" name="Editable connector"/>
          <p:cNvCxnSpPr/>
          <p:nvPr/>
        </p:nvCxnSpPr>
        <p:spPr>
          <a:xfrm>
            <a:off x="5733288" y="3063240"/>
            <a:ext cx="338328" cy="0"/>
          </a:xfrm>
          <a:prstGeom prst="line">
            <a:avLst/>
          </a:prstGeom>
          <a:ln w="21590">
            <a:solidFill>
              <a:srgbClr val="0052D9"/>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9" name="Editable connector"/>
          <p:cNvCxnSpPr/>
          <p:nvPr/>
        </p:nvCxnSpPr>
        <p:spPr>
          <a:xfrm>
            <a:off x="8494776" y="3063240"/>
            <a:ext cx="338328" cy="0"/>
          </a:xfrm>
          <a:prstGeom prst="line">
            <a:avLst/>
          </a:prstGeom>
          <a:ln w="21590">
            <a:solidFill>
              <a:srgbClr val="0D5E4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0" name="Editable connector"/>
          <p:cNvCxnSpPr/>
          <p:nvPr/>
        </p:nvCxnSpPr>
        <p:spPr>
          <a:xfrm>
            <a:off x="11256264" y="3063240"/>
            <a:ext cx="338328" cy="0"/>
          </a:xfrm>
          <a:prstGeom prst="line">
            <a:avLst/>
          </a:prstGeom>
          <a:ln w="21590">
            <a:solidFill>
              <a:srgbClr val="0D5E4F"/>
            </a:solidFill>
            <a:tailEnd type="triangle"/>
          </a:ln>
          <a:effectLst/>
        </p:spPr>
        <p:style>
          <a:lnRef idx="2">
            <a:schemeClr val="accent1"/>
          </a:lnRef>
          <a:fillRef idx="0">
            <a:schemeClr val="accent1"/>
          </a:fillRef>
          <a:effectRef idx="0">
            <a:schemeClr val="accent1"/>
          </a:effectRef>
          <a:fontRef idx="minor">
            <a:schemeClr val="tx1"/>
          </a:fontRef>
        </p:style>
      </p:cxnSp>
      <p:sp>
        <p:nvSpPr>
          <p:cNvPr id="11" name="Confirmed words"/>
          <p:cNvSpPr/>
          <p:nvPr/>
        </p:nvSpPr>
        <p:spPr>
          <a:xfrm>
            <a:off x="548640" y="2148840"/>
            <a:ext cx="2423160" cy="2651760"/>
          </a:xfrm>
          <a:prstGeom prst="rect">
            <a:avLst/>
          </a:prstGeom>
          <a:solidFill>
            <a:srgbClr val="FFFFFF"/>
          </a:solidFill>
          <a:ln w="19050">
            <a:solidFill>
              <a:srgbClr val="1B223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Confirmed words"/>
          <p:cNvSpPr txBox="1"/>
          <p:nvPr/>
        </p:nvSpPr>
        <p:spPr>
          <a:xfrm>
            <a:off x="731520" y="2295144"/>
            <a:ext cx="2057400" cy="690880"/>
          </a:xfrm>
          <a:prstGeom prst="rect">
            <a:avLst/>
          </a:prstGeom>
          <a:noFill/>
        </p:spPr>
        <p:txBody>
          <a:bodyPr wrap="none" lIns="0" rIns="0" tIns="0" bIns="0" anchor="t">
            <a:noAutofit/>
          </a:bodyPr>
          <a:lstStyle/>
          <a:p>
            <a:pPr algn="l">
              <a:lnSpc>
                <a:spcPct val="110000"/>
              </a:lnSpc>
              <a:spcBef>
                <a:spcPts val="0"/>
              </a:spcBef>
              <a:spcAft>
                <a:spcPts val="0"/>
              </a:spcAft>
              <a:defRPr sz="2300" b="1">
                <a:solidFill>
                  <a:srgbClr val="1B2230"/>
                </a:solidFill>
                <a:latin typeface="Arial"/>
              </a:defRPr>
            </a:pPr>
            <a:r>
              <a:t>Confirmed</a:t>
            </a:r>
          </a:p>
          <a:p>
            <a:pPr algn="l">
              <a:lnSpc>
                <a:spcPct val="110000"/>
              </a:lnSpc>
              <a:spcBef>
                <a:spcPts val="0"/>
              </a:spcBef>
              <a:spcAft>
                <a:spcPts val="0"/>
              </a:spcAft>
              <a:defRPr sz="2300" b="1">
                <a:solidFill>
                  <a:srgbClr val="1B2230"/>
                </a:solidFill>
                <a:latin typeface="Arial"/>
              </a:defRPr>
            </a:pPr>
            <a:r>
              <a:t>words</a:t>
            </a:r>
          </a:p>
        </p:txBody>
      </p:sp>
      <p:sp>
        <p:nvSpPr>
          <p:cNvPr id="13" name="Patient reviews and saves the exact words."/>
          <p:cNvSpPr txBox="1"/>
          <p:nvPr/>
        </p:nvSpPr>
        <p:spPr>
          <a:xfrm>
            <a:off x="731520" y="3150616"/>
            <a:ext cx="2057400" cy="1540255"/>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Patient reviews</a:t>
            </a:r>
          </a:p>
          <a:p>
            <a:pPr algn="l">
              <a:lnSpc>
                <a:spcPct val="110000"/>
              </a:lnSpc>
              <a:spcBef>
                <a:spcPts val="0"/>
              </a:spcBef>
              <a:spcAft>
                <a:spcPts val="0"/>
              </a:spcAft>
              <a:defRPr sz="2200" b="0">
                <a:solidFill>
                  <a:srgbClr val="1B2230"/>
                </a:solidFill>
                <a:latin typeface="Arial"/>
              </a:defRPr>
            </a:pPr>
            <a:r>
              <a:t>and saves the</a:t>
            </a:r>
          </a:p>
          <a:p>
            <a:pPr algn="l">
              <a:lnSpc>
                <a:spcPct val="110000"/>
              </a:lnSpc>
              <a:spcBef>
                <a:spcPts val="0"/>
              </a:spcBef>
              <a:spcAft>
                <a:spcPts val="0"/>
              </a:spcAft>
              <a:defRPr sz="2200" b="0">
                <a:solidFill>
                  <a:srgbClr val="1B2230"/>
                </a:solidFill>
                <a:latin typeface="Arial"/>
              </a:defRPr>
            </a:pPr>
            <a:r>
              <a:t>exact words.</a:t>
            </a:r>
          </a:p>
        </p:txBody>
      </p:sp>
      <p:sp>
        <p:nvSpPr>
          <p:cNvPr id="14" name="ADP copies"/>
          <p:cNvSpPr/>
          <p:nvPr/>
        </p:nvSpPr>
        <p:spPr>
          <a:xfrm>
            <a:off x="3310128" y="2148840"/>
            <a:ext cx="2423160" cy="2651760"/>
          </a:xfrm>
          <a:prstGeom prst="rect">
            <a:avLst/>
          </a:prstGeom>
          <a:solidFill>
            <a:srgbClr val="E3ECFC"/>
          </a:solidFill>
          <a:ln w="19050">
            <a:solidFill>
              <a:srgbClr val="0052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ADP copies"/>
          <p:cNvSpPr txBox="1"/>
          <p:nvPr/>
        </p:nvSpPr>
        <p:spPr>
          <a:xfrm>
            <a:off x="3493008" y="2295144"/>
            <a:ext cx="2057400" cy="363728"/>
          </a:xfrm>
          <a:prstGeom prst="rect">
            <a:avLst/>
          </a:prstGeom>
          <a:noFill/>
        </p:spPr>
        <p:txBody>
          <a:bodyPr wrap="none" lIns="0" rIns="0" tIns="0" bIns="0" anchor="t">
            <a:noAutofit/>
          </a:bodyPr>
          <a:lstStyle/>
          <a:p>
            <a:pPr algn="l">
              <a:lnSpc>
                <a:spcPct val="110000"/>
              </a:lnSpc>
              <a:spcBef>
                <a:spcPts val="0"/>
              </a:spcBef>
              <a:spcAft>
                <a:spcPts val="0"/>
              </a:spcAft>
              <a:defRPr sz="2300" b="1">
                <a:solidFill>
                  <a:srgbClr val="0052D9"/>
                </a:solidFill>
                <a:latin typeface="Arial"/>
              </a:defRPr>
            </a:pPr>
            <a:r>
              <a:t>ADP copies</a:t>
            </a:r>
          </a:p>
        </p:txBody>
      </p:sp>
      <p:sp>
        <p:nvSpPr>
          <p:cNvPr id="16" name="Action, time,&#10;who acts.&#10;Or null and&#10;uncertainty."/>
          <p:cNvSpPr txBox="1"/>
          <p:nvPr/>
        </p:nvSpPr>
        <p:spPr>
          <a:xfrm>
            <a:off x="3493008" y="2823464"/>
            <a:ext cx="2057400" cy="1867407"/>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Action, time,</a:t>
            </a:r>
          </a:p>
          <a:p>
            <a:pPr algn="l">
              <a:lnSpc>
                <a:spcPct val="110000"/>
              </a:lnSpc>
              <a:spcBef>
                <a:spcPts val="0"/>
              </a:spcBef>
              <a:spcAft>
                <a:spcPts val="0"/>
              </a:spcAft>
              <a:defRPr sz="2200" b="0">
                <a:solidFill>
                  <a:srgbClr val="1B2230"/>
                </a:solidFill>
                <a:latin typeface="Arial"/>
              </a:defRPr>
            </a:pPr>
            <a:r>
              <a:t>who acts.</a:t>
            </a:r>
          </a:p>
          <a:p>
            <a:pPr algn="l">
              <a:lnSpc>
                <a:spcPct val="110000"/>
              </a:lnSpc>
              <a:spcBef>
                <a:spcPts val="0"/>
              </a:spcBef>
              <a:spcAft>
                <a:spcPts val="0"/>
              </a:spcAft>
              <a:defRPr sz="2200" b="0">
                <a:solidFill>
                  <a:srgbClr val="1B2230"/>
                </a:solidFill>
                <a:latin typeface="Arial"/>
              </a:defRPr>
            </a:pPr>
            <a:r>
              <a:t>Or null and</a:t>
            </a:r>
          </a:p>
          <a:p>
            <a:pPr algn="l">
              <a:lnSpc>
                <a:spcPct val="110000"/>
              </a:lnSpc>
              <a:spcBef>
                <a:spcPts val="0"/>
              </a:spcBef>
              <a:spcAft>
                <a:spcPts val="0"/>
              </a:spcAft>
              <a:defRPr sz="2200" b="0">
                <a:solidFill>
                  <a:srgbClr val="1B2230"/>
                </a:solidFill>
                <a:latin typeface="Arial"/>
              </a:defRPr>
            </a:pPr>
            <a:r>
              <a:t>uncertainty.</a:t>
            </a:r>
          </a:p>
        </p:txBody>
      </p:sp>
      <p:sp>
        <p:nvSpPr>
          <p:cNvPr id="17" name="Code grounds"/>
          <p:cNvSpPr/>
          <p:nvPr/>
        </p:nvSpPr>
        <p:spPr>
          <a:xfrm>
            <a:off x="6071616" y="2148840"/>
            <a:ext cx="2423160" cy="2651760"/>
          </a:xfrm>
          <a:prstGeom prst="rect">
            <a:avLst/>
          </a:prstGeom>
          <a:solidFill>
            <a:srgbClr val="DCEFE9"/>
          </a:solidFill>
          <a:ln w="19050">
            <a:solidFill>
              <a:srgbClr val="0D5E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ode grounds"/>
          <p:cNvSpPr txBox="1"/>
          <p:nvPr/>
        </p:nvSpPr>
        <p:spPr>
          <a:xfrm>
            <a:off x="6254496" y="2295144"/>
            <a:ext cx="2057400" cy="690880"/>
          </a:xfrm>
          <a:prstGeom prst="rect">
            <a:avLst/>
          </a:prstGeom>
          <a:noFill/>
        </p:spPr>
        <p:txBody>
          <a:bodyPr wrap="none" lIns="0" rIns="0" tIns="0" bIns="0" anchor="t">
            <a:noAutofit/>
          </a:bodyPr>
          <a:lstStyle/>
          <a:p>
            <a:pPr algn="l">
              <a:lnSpc>
                <a:spcPct val="110000"/>
              </a:lnSpc>
              <a:spcBef>
                <a:spcPts val="0"/>
              </a:spcBef>
              <a:spcAft>
                <a:spcPts val="0"/>
              </a:spcAft>
              <a:defRPr sz="2300" b="1">
                <a:solidFill>
                  <a:srgbClr val="0D5E4F"/>
                </a:solidFill>
                <a:latin typeface="Arial"/>
              </a:defRPr>
            </a:pPr>
            <a:r>
              <a:t>Code</a:t>
            </a:r>
          </a:p>
          <a:p>
            <a:pPr algn="l">
              <a:lnSpc>
                <a:spcPct val="110000"/>
              </a:lnSpc>
              <a:spcBef>
                <a:spcPts val="0"/>
              </a:spcBef>
              <a:spcAft>
                <a:spcPts val="0"/>
              </a:spcAft>
              <a:defRPr sz="2300" b="1">
                <a:solidFill>
                  <a:srgbClr val="0D5E4F"/>
                </a:solidFill>
                <a:latin typeface="Arial"/>
              </a:defRPr>
            </a:pPr>
            <a:r>
              <a:t>grounds</a:t>
            </a:r>
          </a:p>
        </p:txBody>
      </p:sp>
      <p:sp>
        <p:nvSpPr>
          <p:cNvPr id="19" name="Accepts exact&#10;source slices&#10;of the saved&#10;words."/>
          <p:cNvSpPr txBox="1"/>
          <p:nvPr/>
        </p:nvSpPr>
        <p:spPr>
          <a:xfrm>
            <a:off x="6254496" y="3150616"/>
            <a:ext cx="2057400" cy="1540255"/>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Accepts exact</a:t>
            </a:r>
          </a:p>
          <a:p>
            <a:pPr algn="l">
              <a:lnSpc>
                <a:spcPct val="110000"/>
              </a:lnSpc>
              <a:spcBef>
                <a:spcPts val="0"/>
              </a:spcBef>
              <a:spcAft>
                <a:spcPts val="0"/>
              </a:spcAft>
              <a:defRPr sz="2200" b="0">
                <a:solidFill>
                  <a:srgbClr val="1B2230"/>
                </a:solidFill>
                <a:latin typeface="Arial"/>
              </a:defRPr>
            </a:pPr>
            <a:r>
              <a:t>source slices</a:t>
            </a:r>
          </a:p>
          <a:p>
            <a:pPr algn="l">
              <a:lnSpc>
                <a:spcPct val="110000"/>
              </a:lnSpc>
              <a:spcBef>
                <a:spcPts val="0"/>
              </a:spcBef>
              <a:spcAft>
                <a:spcPts val="0"/>
              </a:spcAft>
              <a:defRPr sz="2200" b="0">
                <a:solidFill>
                  <a:srgbClr val="1B2230"/>
                </a:solidFill>
                <a:latin typeface="Arial"/>
              </a:defRPr>
            </a:pPr>
            <a:r>
              <a:t>of the saved</a:t>
            </a:r>
          </a:p>
          <a:p>
            <a:pPr algn="l">
              <a:lnSpc>
                <a:spcPct val="110000"/>
              </a:lnSpc>
              <a:spcBef>
                <a:spcPts val="0"/>
              </a:spcBef>
              <a:spcAft>
                <a:spcPts val="0"/>
              </a:spcAft>
              <a:defRPr sz="2200" b="0">
                <a:solidFill>
                  <a:srgbClr val="1B2230"/>
                </a:solidFill>
                <a:latin typeface="Arial"/>
              </a:defRPr>
            </a:pPr>
            <a:r>
              <a:t>words.</a:t>
            </a:r>
          </a:p>
        </p:txBody>
      </p:sp>
      <p:sp>
        <p:nvSpPr>
          <p:cNvPr id="20" name="Code compares"/>
          <p:cNvSpPr/>
          <p:nvPr/>
        </p:nvSpPr>
        <p:spPr>
          <a:xfrm>
            <a:off x="8833104" y="2148840"/>
            <a:ext cx="2423160" cy="2651760"/>
          </a:xfrm>
          <a:prstGeom prst="rect">
            <a:avLst/>
          </a:prstGeom>
          <a:solidFill>
            <a:srgbClr val="DCEFE9"/>
          </a:solidFill>
          <a:ln w="19050">
            <a:solidFill>
              <a:srgbClr val="0D5E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Code compares"/>
          <p:cNvSpPr txBox="1"/>
          <p:nvPr/>
        </p:nvSpPr>
        <p:spPr>
          <a:xfrm>
            <a:off x="9015984" y="2295144"/>
            <a:ext cx="2057400" cy="690880"/>
          </a:xfrm>
          <a:prstGeom prst="rect">
            <a:avLst/>
          </a:prstGeom>
          <a:noFill/>
        </p:spPr>
        <p:txBody>
          <a:bodyPr wrap="none" lIns="0" rIns="0" tIns="0" bIns="0" anchor="t">
            <a:noAutofit/>
          </a:bodyPr>
          <a:lstStyle/>
          <a:p>
            <a:pPr algn="l">
              <a:lnSpc>
                <a:spcPct val="110000"/>
              </a:lnSpc>
              <a:spcBef>
                <a:spcPts val="0"/>
              </a:spcBef>
              <a:spcAft>
                <a:spcPts val="0"/>
              </a:spcAft>
              <a:defRPr sz="2300" b="1">
                <a:solidFill>
                  <a:srgbClr val="0D5E4F"/>
                </a:solidFill>
                <a:latin typeface="Arial"/>
              </a:defRPr>
            </a:pPr>
            <a:r>
              <a:t>Code</a:t>
            </a:r>
          </a:p>
          <a:p>
            <a:pPr algn="l">
              <a:lnSpc>
                <a:spcPct val="110000"/>
              </a:lnSpc>
              <a:spcBef>
                <a:spcPts val="0"/>
              </a:spcBef>
              <a:spcAft>
                <a:spcPts val="0"/>
              </a:spcAft>
              <a:defRPr sz="2300" b="1">
                <a:solidFill>
                  <a:srgbClr val="0D5E4F"/>
                </a:solidFill>
                <a:latin typeface="Arial"/>
              </a:defRPr>
            </a:pPr>
            <a:r>
              <a:t>compares</a:t>
            </a:r>
          </a:p>
        </p:txBody>
      </p:sp>
      <p:sp>
        <p:nvSpPr>
          <p:cNvPr id="22" name="Fixed rules&#10;compare fields&#10;with the plan."/>
          <p:cNvSpPr txBox="1"/>
          <p:nvPr/>
        </p:nvSpPr>
        <p:spPr>
          <a:xfrm>
            <a:off x="9015984" y="3150616"/>
            <a:ext cx="2057400" cy="1540255"/>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Fixed rules</a:t>
            </a:r>
          </a:p>
          <a:p>
            <a:pPr algn="l">
              <a:lnSpc>
                <a:spcPct val="110000"/>
              </a:lnSpc>
              <a:spcBef>
                <a:spcPts val="0"/>
              </a:spcBef>
              <a:spcAft>
                <a:spcPts val="0"/>
              </a:spcAft>
              <a:defRPr sz="2200" b="0">
                <a:solidFill>
                  <a:srgbClr val="1B2230"/>
                </a:solidFill>
                <a:latin typeface="Arial"/>
              </a:defRPr>
            </a:pPr>
            <a:r>
              <a:t>compare fields</a:t>
            </a:r>
          </a:p>
          <a:p>
            <a:pPr algn="l">
              <a:lnSpc>
                <a:spcPct val="110000"/>
              </a:lnSpc>
              <a:spcBef>
                <a:spcPts val="0"/>
              </a:spcBef>
              <a:spcAft>
                <a:spcPts val="0"/>
              </a:spcAft>
              <a:defRPr sz="2200" b="0">
                <a:solidFill>
                  <a:srgbClr val="1B2230"/>
                </a:solidFill>
                <a:latin typeface="Arial"/>
              </a:defRPr>
            </a:pPr>
            <a:r>
              <a:t>with the plan.</a:t>
            </a:r>
          </a:p>
        </p:txBody>
      </p:sp>
      <p:sp>
        <p:nvSpPr>
          <p:cNvPr id="23" name="Code selects"/>
          <p:cNvSpPr/>
          <p:nvPr/>
        </p:nvSpPr>
        <p:spPr>
          <a:xfrm>
            <a:off x="11594592" y="2148840"/>
            <a:ext cx="2423160" cy="2651760"/>
          </a:xfrm>
          <a:prstGeom prst="rect">
            <a:avLst/>
          </a:prstGeom>
          <a:solidFill>
            <a:srgbClr val="DCEFE9"/>
          </a:solidFill>
          <a:ln w="19050">
            <a:solidFill>
              <a:srgbClr val="0D5E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ode selects"/>
          <p:cNvSpPr txBox="1"/>
          <p:nvPr/>
        </p:nvSpPr>
        <p:spPr>
          <a:xfrm>
            <a:off x="11777472" y="2295144"/>
            <a:ext cx="2057400" cy="363728"/>
          </a:xfrm>
          <a:prstGeom prst="rect">
            <a:avLst/>
          </a:prstGeom>
          <a:noFill/>
        </p:spPr>
        <p:txBody>
          <a:bodyPr wrap="none" lIns="0" rIns="0" tIns="0" bIns="0" anchor="t">
            <a:noAutofit/>
          </a:bodyPr>
          <a:lstStyle/>
          <a:p>
            <a:pPr algn="l">
              <a:lnSpc>
                <a:spcPct val="110000"/>
              </a:lnSpc>
              <a:spcBef>
                <a:spcPts val="0"/>
              </a:spcBef>
              <a:spcAft>
                <a:spcPts val="0"/>
              </a:spcAft>
              <a:defRPr sz="2300" b="1">
                <a:solidFill>
                  <a:srgbClr val="0D5E4F"/>
                </a:solidFill>
                <a:latin typeface="Arial"/>
              </a:defRPr>
            </a:pPr>
            <a:r>
              <a:t>Code selects</a:t>
            </a:r>
          </a:p>
        </p:txBody>
      </p:sp>
      <p:sp>
        <p:nvSpPr>
          <p:cNvPr id="25" name="Repair, barrier&#10;or stop.&#10;Code picks the&#10;next screen."/>
          <p:cNvSpPr txBox="1"/>
          <p:nvPr/>
        </p:nvSpPr>
        <p:spPr>
          <a:xfrm>
            <a:off x="11777472" y="2823464"/>
            <a:ext cx="2057400" cy="1867407"/>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Repair, barrier</a:t>
            </a:r>
          </a:p>
          <a:p>
            <a:pPr algn="l">
              <a:lnSpc>
                <a:spcPct val="110000"/>
              </a:lnSpc>
              <a:spcBef>
                <a:spcPts val="0"/>
              </a:spcBef>
              <a:spcAft>
                <a:spcPts val="0"/>
              </a:spcAft>
              <a:defRPr sz="2200" b="0">
                <a:solidFill>
                  <a:srgbClr val="1B2230"/>
                </a:solidFill>
                <a:latin typeface="Arial"/>
              </a:defRPr>
            </a:pPr>
            <a:r>
              <a:t>or stop.</a:t>
            </a:r>
          </a:p>
          <a:p>
            <a:pPr algn="l">
              <a:lnSpc>
                <a:spcPct val="110000"/>
              </a:lnSpc>
              <a:spcBef>
                <a:spcPts val="0"/>
              </a:spcBef>
              <a:spcAft>
                <a:spcPts val="0"/>
              </a:spcAft>
              <a:defRPr sz="2200" b="0">
                <a:solidFill>
                  <a:srgbClr val="1B2230"/>
                </a:solidFill>
                <a:latin typeface="Arial"/>
              </a:defRPr>
            </a:pPr>
            <a:r>
              <a:t>Code picks the</a:t>
            </a:r>
          </a:p>
          <a:p>
            <a:pPr algn="l">
              <a:lnSpc>
                <a:spcPct val="110000"/>
              </a:lnSpc>
              <a:spcBef>
                <a:spcPts val="0"/>
              </a:spcBef>
              <a:spcAft>
                <a:spcPts val="0"/>
              </a:spcAft>
              <a:defRPr sz="2200" b="0">
                <a:solidFill>
                  <a:srgbClr val="1B2230"/>
                </a:solidFill>
                <a:latin typeface="Arial"/>
              </a:defRPr>
            </a:pPr>
            <a:r>
              <a:t>next screen.</a:t>
            </a:r>
          </a:p>
        </p:txBody>
      </p:sp>
      <p:sp>
        <p:nvSpPr>
          <p:cNvPr id="26" name="Strict v2 schema. 15 s whole-response cap. One call. No"/>
          <p:cNvSpPr txBox="1"/>
          <p:nvPr/>
        </p:nvSpPr>
        <p:spPr>
          <a:xfrm>
            <a:off x="594360" y="5074920"/>
            <a:ext cx="13350240" cy="731520"/>
          </a:xfrm>
          <a:prstGeom prst="rect">
            <a:avLst/>
          </a:prstGeom>
          <a:noFill/>
        </p:spPr>
        <p:txBody>
          <a:bodyPr wrap="none" lIns="0" rIns="0" tIns="0" bIns="0" anchor="t">
            <a:noAutofit/>
          </a:bodyPr>
          <a:lstStyle/>
          <a:p>
            <a:pPr algn="l">
              <a:lnSpc>
                <a:spcPct val="110000"/>
              </a:lnSpc>
              <a:spcBef>
                <a:spcPts val="0"/>
              </a:spcBef>
              <a:spcAft>
                <a:spcPts val="0"/>
              </a:spcAft>
              <a:defRPr sz="2500" b="1">
                <a:solidFill>
                  <a:srgbClr val="0052D9"/>
                </a:solidFill>
                <a:latin typeface="Arial"/>
              </a:defRPr>
            </a:pPr>
            <a:r>
              <a:t>Strict v2 schema. 15 s whole-response cap. One call. No retry or lexical fallback.</a:t>
            </a:r>
          </a:p>
        </p:txBody>
      </p:sp>
      <p:sp>
        <p:nvSpPr>
          <p:cNvPr id="27" name="ADP never"/>
          <p:cNvSpPr txBox="1"/>
          <p:nvPr/>
        </p:nvSpPr>
        <p:spPr>
          <a:xfrm>
            <a:off x="603504" y="5943600"/>
            <a:ext cx="1920240" cy="457200"/>
          </a:xfrm>
          <a:prstGeom prst="rect">
            <a:avLst/>
          </a:prstGeom>
          <a:noFill/>
        </p:spPr>
        <p:txBody>
          <a:bodyPr wrap="none" lIns="0" rIns="0" tIns="0" bIns="0" anchor="t">
            <a:noAutofit/>
          </a:bodyPr>
          <a:lstStyle/>
          <a:p>
            <a:pPr algn="l">
              <a:lnSpc>
                <a:spcPct val="110000"/>
              </a:lnSpc>
              <a:spcBef>
                <a:spcPts val="0"/>
              </a:spcBef>
              <a:spcAft>
                <a:spcPts val="0"/>
              </a:spcAft>
              <a:defRPr sz="2800" b="1">
                <a:solidFill>
                  <a:srgbClr val="B3261E"/>
                </a:solidFill>
                <a:latin typeface="Arial"/>
              </a:defRPr>
            </a:pPr>
            <a:r>
              <a:t>ADP never</a:t>
            </a:r>
          </a:p>
        </p:txBody>
      </p:sp>
      <p:sp>
        <p:nvSpPr>
          <p:cNvPr id="28" name="sets the plan"/>
          <p:cNvSpPr txBox="1"/>
          <p:nvPr/>
        </p:nvSpPr>
        <p:spPr>
          <a:xfrm>
            <a:off x="2743200" y="5943600"/>
            <a:ext cx="2514600" cy="1005840"/>
          </a:xfrm>
          <a:prstGeom prst="rect">
            <a:avLst/>
          </a:prstGeom>
          <a:noFill/>
        </p:spPr>
        <p:txBody>
          <a:bodyPr wrap="none" lIns="0" rIns="0" tIns="0" bIns="0" anchor="t">
            <a:noAutofit/>
          </a:bodyPr>
          <a:lstStyle/>
          <a:p>
            <a:pPr algn="l">
              <a:lnSpc>
                <a:spcPct val="110000"/>
              </a:lnSpc>
              <a:spcBef>
                <a:spcPts val="0"/>
              </a:spcBef>
              <a:spcAft>
                <a:spcPts val="0"/>
              </a:spcAft>
              <a:defRPr sz="2400" b="0">
                <a:solidFill>
                  <a:srgbClr val="B3261E"/>
                </a:solidFill>
                <a:latin typeface="Arial"/>
              </a:defRPr>
            </a:pPr>
            <a:r>
              <a:t>sets the plan</a:t>
            </a:r>
          </a:p>
        </p:txBody>
      </p:sp>
      <p:sp>
        <p:nvSpPr>
          <p:cNvPr id="29" name="sets deadline&#10;or urgency"/>
          <p:cNvSpPr txBox="1"/>
          <p:nvPr/>
        </p:nvSpPr>
        <p:spPr>
          <a:xfrm>
            <a:off x="5577840" y="5943600"/>
            <a:ext cx="2514600" cy="1005840"/>
          </a:xfrm>
          <a:prstGeom prst="rect">
            <a:avLst/>
          </a:prstGeom>
          <a:noFill/>
        </p:spPr>
        <p:txBody>
          <a:bodyPr wrap="none" lIns="0" rIns="0" tIns="0" bIns="0" anchor="t">
            <a:noAutofit/>
          </a:bodyPr>
          <a:lstStyle/>
          <a:p>
            <a:pPr algn="l">
              <a:lnSpc>
                <a:spcPct val="110000"/>
              </a:lnSpc>
              <a:spcBef>
                <a:spcPts val="0"/>
              </a:spcBef>
              <a:spcAft>
                <a:spcPts val="0"/>
              </a:spcAft>
              <a:defRPr sz="2400" b="0">
                <a:solidFill>
                  <a:srgbClr val="B3261E"/>
                </a:solidFill>
                <a:latin typeface="Arial"/>
              </a:defRPr>
            </a:pPr>
            <a:r>
              <a:t>sets deadline</a:t>
            </a:r>
          </a:p>
          <a:p>
            <a:pPr algn="l">
              <a:lnSpc>
                <a:spcPct val="110000"/>
              </a:lnSpc>
              <a:spcBef>
                <a:spcPts val="0"/>
              </a:spcBef>
              <a:spcAft>
                <a:spcPts val="0"/>
              </a:spcAft>
              <a:defRPr sz="2400" b="0">
                <a:solidFill>
                  <a:srgbClr val="B3261E"/>
                </a:solidFill>
                <a:latin typeface="Arial"/>
              </a:defRPr>
            </a:pPr>
            <a:r>
              <a:t>or urgency</a:t>
            </a:r>
          </a:p>
        </p:txBody>
      </p:sp>
      <p:sp>
        <p:nvSpPr>
          <p:cNvPr id="30" name="grades&#10;understanding"/>
          <p:cNvSpPr txBox="1"/>
          <p:nvPr/>
        </p:nvSpPr>
        <p:spPr>
          <a:xfrm>
            <a:off x="8412480" y="5943600"/>
            <a:ext cx="2514600" cy="1005840"/>
          </a:xfrm>
          <a:prstGeom prst="rect">
            <a:avLst/>
          </a:prstGeom>
          <a:noFill/>
        </p:spPr>
        <p:txBody>
          <a:bodyPr wrap="none" lIns="0" rIns="0" tIns="0" bIns="0" anchor="t">
            <a:noAutofit/>
          </a:bodyPr>
          <a:lstStyle/>
          <a:p>
            <a:pPr algn="l">
              <a:lnSpc>
                <a:spcPct val="110000"/>
              </a:lnSpc>
              <a:spcBef>
                <a:spcPts val="0"/>
              </a:spcBef>
              <a:spcAft>
                <a:spcPts val="0"/>
              </a:spcAft>
              <a:defRPr sz="2400" b="0">
                <a:solidFill>
                  <a:srgbClr val="B3261E"/>
                </a:solidFill>
                <a:latin typeface="Arial"/>
              </a:defRPr>
            </a:pPr>
            <a:r>
              <a:t>grades</a:t>
            </a:r>
          </a:p>
          <a:p>
            <a:pPr algn="l">
              <a:lnSpc>
                <a:spcPct val="110000"/>
              </a:lnSpc>
              <a:spcBef>
                <a:spcPts val="0"/>
              </a:spcBef>
              <a:spcAft>
                <a:spcPts val="0"/>
              </a:spcAft>
              <a:defRPr sz="2400" b="0">
                <a:solidFill>
                  <a:srgbClr val="B3261E"/>
                </a:solidFill>
                <a:latin typeface="Arial"/>
              </a:defRPr>
            </a:pPr>
            <a:r>
              <a:t>understanding</a:t>
            </a:r>
          </a:p>
        </p:txBody>
      </p:sp>
      <p:sp>
        <p:nvSpPr>
          <p:cNvPr id="31" name="books or&#10;closes anything"/>
          <p:cNvSpPr txBox="1"/>
          <p:nvPr/>
        </p:nvSpPr>
        <p:spPr>
          <a:xfrm>
            <a:off x="11247120" y="5943600"/>
            <a:ext cx="2514600" cy="1005840"/>
          </a:xfrm>
          <a:prstGeom prst="rect">
            <a:avLst/>
          </a:prstGeom>
          <a:noFill/>
        </p:spPr>
        <p:txBody>
          <a:bodyPr wrap="none" lIns="0" rIns="0" tIns="0" bIns="0" anchor="t">
            <a:noAutofit/>
          </a:bodyPr>
          <a:lstStyle/>
          <a:p>
            <a:pPr algn="l">
              <a:lnSpc>
                <a:spcPct val="110000"/>
              </a:lnSpc>
              <a:spcBef>
                <a:spcPts val="0"/>
              </a:spcBef>
              <a:spcAft>
                <a:spcPts val="0"/>
              </a:spcAft>
              <a:defRPr sz="2400" b="0">
                <a:solidFill>
                  <a:srgbClr val="B3261E"/>
                </a:solidFill>
                <a:latin typeface="Arial"/>
              </a:defRPr>
            </a:pPr>
            <a:r>
              <a:t>books or</a:t>
            </a:r>
          </a:p>
          <a:p>
            <a:pPr algn="l">
              <a:lnSpc>
                <a:spcPct val="110000"/>
              </a:lnSpc>
              <a:spcBef>
                <a:spcPts val="0"/>
              </a:spcBef>
              <a:spcAft>
                <a:spcPts val="0"/>
              </a:spcAft>
              <a:defRPr sz="2400" b="0">
                <a:solidFill>
                  <a:srgbClr val="B3261E"/>
                </a:solidFill>
                <a:latin typeface="Arial"/>
              </a:defRPr>
            </a:pPr>
            <a:r>
              <a:t>closes anything</a:t>
            </a:r>
          </a:p>
        </p:txBody>
      </p:sp>
      <p:sp>
        <p:nvSpPr>
          <p:cNvPr id="32" name="Offline: a labelled simulated stand-in copies phrases. "/>
          <p:cNvSpPr txBox="1"/>
          <p:nvPr/>
        </p:nvSpPr>
        <p:spPr>
          <a:xfrm>
            <a:off x="603504" y="7196328"/>
            <a:ext cx="13350240" cy="438912"/>
          </a:xfrm>
          <a:prstGeom prst="rect">
            <a:avLst/>
          </a:prstGeom>
          <a:noFill/>
        </p:spPr>
        <p:txBody>
          <a:bodyPr wrap="none" lIns="0" rIns="0" tIns="0" bIns="0" anchor="t">
            <a:noAutofit/>
          </a:bodyPr>
          <a:lstStyle/>
          <a:p>
            <a:pPr algn="l">
              <a:lnSpc>
                <a:spcPct val="110000"/>
              </a:lnSpc>
              <a:spcBef>
                <a:spcPts val="0"/>
              </a:spcBef>
              <a:spcAft>
                <a:spcPts val="0"/>
              </a:spcAft>
              <a:defRPr sz="2100" b="0">
                <a:solidFill>
                  <a:srgbClr val="4F5866"/>
                </a:solidFill>
                <a:latin typeface="Arial"/>
              </a:defRPr>
            </a:pPr>
            <a:r>
              <a:t>Offline: a labelled simulated stand-in copies phrases. The judge panel names that actor.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5F2"/>
        </a:solidFill>
        <a:effectLst/>
      </p:bgPr>
    </p:bg>
    <p:spTree>
      <p:nvGrpSpPr>
        <p:cNvPr id="1" name=""/>
        <p:cNvGrpSpPr/>
        <p:nvPr/>
      </p:nvGrpSpPr>
      <p:grpSpPr/>
      <p:sp>
        <p:nvSpPr>
          <p:cNvPr id="2" name="Slide title"/>
          <p:cNvSpPr txBox="1"/>
          <p:nvPr/>
        </p:nvSpPr>
        <p:spPr>
          <a:xfrm>
            <a:off x="548640" y="384048"/>
            <a:ext cx="13533120" cy="621792"/>
          </a:xfrm>
          <a:prstGeom prst="rect">
            <a:avLst/>
          </a:prstGeom>
          <a:noFill/>
        </p:spPr>
        <p:txBody>
          <a:bodyPr wrap="none" lIns="0" rIns="0" tIns="0" bIns="0" anchor="t">
            <a:noAutofit/>
          </a:bodyPr>
          <a:lstStyle/>
          <a:p>
            <a:pPr algn="l">
              <a:lnSpc>
                <a:spcPct val="110000"/>
              </a:lnSpc>
              <a:spcBef>
                <a:spcPts val="0"/>
              </a:spcBef>
              <a:spcAft>
                <a:spcPts val="0"/>
              </a:spcAft>
              <a:defRPr sz="4000" b="1">
                <a:solidFill>
                  <a:srgbClr val="1B2230"/>
                </a:solidFill>
                <a:latin typeface="Arial"/>
              </a:defRPr>
            </a:pPr>
            <a:r>
              <a:t>Safety layers in execution order</a:t>
            </a:r>
          </a:p>
        </p:txBody>
      </p:sp>
      <p:cxnSp>
        <p:nvCxnSpPr>
          <p:cNvPr id="3" name="Editable connector"/>
          <p:cNvCxnSpPr/>
          <p:nvPr/>
        </p:nvCxnSpPr>
        <p:spPr>
          <a:xfrm>
            <a:off x="548640" y="7818120"/>
            <a:ext cx="13533120" cy="0"/>
          </a:xfrm>
          <a:prstGeom prst="line">
            <a:avLst/>
          </a:prstGeom>
          <a:ln w="12700">
            <a:solidFill>
              <a:srgbClr val="D3D9D4"/>
            </a:solidFill>
          </a:ln>
          <a:effectLst/>
        </p:spPr>
        <p:style>
          <a:lnRef idx="2">
            <a:schemeClr val="accent1"/>
          </a:lnRef>
          <a:fillRef idx="0">
            <a:schemeClr val="accent1"/>
          </a:fillRef>
          <a:effectRef idx="0">
            <a:schemeClr val="accent1"/>
          </a:effectRef>
          <a:fontRef idx="minor">
            <a:schemeClr val="tx1"/>
          </a:fontRef>
        </p:style>
      </p:cxnSp>
      <p:sp>
        <p:nvSpPr>
          <p:cNvPr id="4" name="Simulated demo. Not medical advice."/>
          <p:cNvSpPr txBox="1"/>
          <p:nvPr/>
        </p:nvSpPr>
        <p:spPr>
          <a:xfrm>
            <a:off x="566928" y="7936992"/>
            <a:ext cx="10972800" cy="228600"/>
          </a:xfrm>
          <a:prstGeom prst="rect">
            <a:avLst/>
          </a:prstGeom>
          <a:noFill/>
        </p:spPr>
        <p:txBody>
          <a:bodyPr wrap="none" lIns="0" rIns="0" tIns="0" bIns="0" anchor="t">
            <a:noAutofit/>
          </a:bodyPr>
          <a:lstStyle/>
          <a:p>
            <a:pPr algn="l">
              <a:lnSpc>
                <a:spcPct val="110000"/>
              </a:lnSpc>
              <a:spcBef>
                <a:spcPts val="0"/>
              </a:spcBef>
              <a:spcAft>
                <a:spcPts val="0"/>
              </a:spcAft>
              <a:defRPr sz="1400" b="0">
                <a:solidFill>
                  <a:srgbClr val="4F5866"/>
                </a:solidFill>
                <a:latin typeface="Arial"/>
              </a:defRPr>
            </a:pPr>
            <a:r>
              <a:t>Simulated demo. Not medical advice.</a:t>
            </a:r>
          </a:p>
        </p:txBody>
      </p:sp>
      <p:sp>
        <p:nvSpPr>
          <p:cNvPr id="5" name="6"/>
          <p:cNvSpPr txBox="1"/>
          <p:nvPr/>
        </p:nvSpPr>
        <p:spPr>
          <a:xfrm>
            <a:off x="13487400" y="7936992"/>
            <a:ext cx="566928" cy="228600"/>
          </a:xfrm>
          <a:prstGeom prst="rect">
            <a:avLst/>
          </a:prstGeom>
          <a:noFill/>
        </p:spPr>
        <p:txBody>
          <a:bodyPr wrap="none" lIns="0" rIns="0" tIns="0" bIns="0" anchor="t">
            <a:noAutofit/>
          </a:bodyPr>
          <a:lstStyle/>
          <a:p>
            <a:pPr algn="r">
              <a:lnSpc>
                <a:spcPct val="110000"/>
              </a:lnSpc>
              <a:spcBef>
                <a:spcPts val="0"/>
              </a:spcBef>
              <a:spcAft>
                <a:spcPts val="0"/>
              </a:spcAft>
              <a:defRPr sz="1400" b="0">
                <a:solidFill>
                  <a:srgbClr val="4F5866"/>
                </a:solidFill>
                <a:latin typeface="Arial"/>
              </a:defRPr>
            </a:pPr>
            <a:r>
              <a:t>6</a:t>
            </a:r>
          </a:p>
        </p:txBody>
      </p:sp>
      <p:cxnSp>
        <p:nvCxnSpPr>
          <p:cNvPr id="6" name="Editable connector"/>
          <p:cNvCxnSpPr/>
          <p:nvPr/>
        </p:nvCxnSpPr>
        <p:spPr>
          <a:xfrm>
            <a:off x="594360" y="2752344"/>
            <a:ext cx="13395960" cy="0"/>
          </a:xfrm>
          <a:prstGeom prst="line">
            <a:avLst/>
          </a:prstGeom>
          <a:ln w="12700">
            <a:solidFill>
              <a:srgbClr val="D3D9D4"/>
            </a:solidFill>
          </a:ln>
          <a:effectLst/>
        </p:spPr>
        <p:style>
          <a:lnRef idx="2">
            <a:schemeClr val="accent1"/>
          </a:lnRef>
          <a:fillRef idx="0">
            <a:schemeClr val="accent1"/>
          </a:fillRef>
          <a:effectRef idx="0">
            <a:schemeClr val="accent1"/>
          </a:effectRef>
          <a:fontRef idx="minor">
            <a:schemeClr val="tx1"/>
          </a:fontRef>
        </p:style>
      </p:cxnSp>
      <p:cxnSp>
        <p:nvCxnSpPr>
          <p:cNvPr id="7" name="Editable connector"/>
          <p:cNvCxnSpPr/>
          <p:nvPr/>
        </p:nvCxnSpPr>
        <p:spPr>
          <a:xfrm>
            <a:off x="594360" y="4197096"/>
            <a:ext cx="13395960" cy="0"/>
          </a:xfrm>
          <a:prstGeom prst="line">
            <a:avLst/>
          </a:prstGeom>
          <a:ln w="12700">
            <a:solidFill>
              <a:srgbClr val="D3D9D4"/>
            </a:solidFill>
          </a:ln>
          <a:effectLst/>
        </p:spPr>
        <p:style>
          <a:lnRef idx="2">
            <a:schemeClr val="accent1"/>
          </a:lnRef>
          <a:fillRef idx="0">
            <a:schemeClr val="accent1"/>
          </a:fillRef>
          <a:effectRef idx="0">
            <a:schemeClr val="accent1"/>
          </a:effectRef>
          <a:fontRef idx="minor">
            <a:schemeClr val="tx1"/>
          </a:fontRef>
        </p:style>
      </p:cxnSp>
      <p:cxnSp>
        <p:nvCxnSpPr>
          <p:cNvPr id="8" name="Editable connector"/>
          <p:cNvCxnSpPr/>
          <p:nvPr/>
        </p:nvCxnSpPr>
        <p:spPr>
          <a:xfrm>
            <a:off x="594360" y="5641848"/>
            <a:ext cx="13395960" cy="0"/>
          </a:xfrm>
          <a:prstGeom prst="line">
            <a:avLst/>
          </a:prstGeom>
          <a:ln w="12700">
            <a:solidFill>
              <a:srgbClr val="D3D9D4"/>
            </a:solidFill>
          </a:ln>
          <a:effectLst/>
        </p:spPr>
        <p:style>
          <a:lnRef idx="2">
            <a:schemeClr val="accent1"/>
          </a:lnRef>
          <a:fillRef idx="0">
            <a:schemeClr val="accent1"/>
          </a:fillRef>
          <a:effectRef idx="0">
            <a:schemeClr val="accent1"/>
          </a:effectRef>
          <a:fontRef idx="minor">
            <a:schemeClr val="tx1"/>
          </a:fontRef>
        </p:style>
      </p:cxnSp>
      <p:sp>
        <p:nvSpPr>
          <p:cNvPr id="9" name="1"/>
          <p:cNvSpPr txBox="1"/>
          <p:nvPr/>
        </p:nvSpPr>
        <p:spPr>
          <a:xfrm>
            <a:off x="640080" y="1417320"/>
            <a:ext cx="548640" cy="603504"/>
          </a:xfrm>
          <a:prstGeom prst="rect">
            <a:avLst/>
          </a:prstGeom>
          <a:noFill/>
        </p:spPr>
        <p:txBody>
          <a:bodyPr wrap="none" lIns="0" rIns="0" tIns="0" bIns="0" anchor="t">
            <a:noAutofit/>
          </a:bodyPr>
          <a:lstStyle/>
          <a:p>
            <a:pPr algn="l">
              <a:lnSpc>
                <a:spcPct val="110000"/>
              </a:lnSpc>
              <a:spcBef>
                <a:spcPts val="0"/>
              </a:spcBef>
              <a:spcAft>
                <a:spcPts val="0"/>
              </a:spcAft>
              <a:defRPr sz="3800" b="1">
                <a:solidFill>
                  <a:srgbClr val="B3261E"/>
                </a:solidFill>
                <a:latin typeface="Arial"/>
              </a:defRPr>
            </a:pPr>
            <a:r>
              <a:t>1</a:t>
            </a:r>
          </a:p>
        </p:txBody>
      </p:sp>
      <p:sp>
        <p:nvSpPr>
          <p:cNvPr id="10" name="Before any plan"/>
          <p:cNvSpPr txBox="1"/>
          <p:nvPr/>
        </p:nvSpPr>
        <p:spPr>
          <a:xfrm>
            <a:off x="1508760" y="1417320"/>
            <a:ext cx="3017520" cy="347472"/>
          </a:xfrm>
          <a:prstGeom prst="rect">
            <a:avLst/>
          </a:prstGeom>
          <a:noFill/>
        </p:spPr>
        <p:txBody>
          <a:bodyPr wrap="none" lIns="0" rIns="0" tIns="0" bIns="0" anchor="t">
            <a:noAutofit/>
          </a:bodyPr>
          <a:lstStyle/>
          <a:p>
            <a:pPr algn="l">
              <a:lnSpc>
                <a:spcPct val="110000"/>
              </a:lnSpc>
              <a:spcBef>
                <a:spcPts val="0"/>
              </a:spcBef>
              <a:spcAft>
                <a:spcPts val="0"/>
              </a:spcAft>
              <a:defRPr sz="1900" b="0">
                <a:solidFill>
                  <a:srgbClr val="4F5866"/>
                </a:solidFill>
                <a:latin typeface="Arial"/>
              </a:defRPr>
            </a:pPr>
            <a:r>
              <a:t>Before any plan</a:t>
            </a:r>
          </a:p>
        </p:txBody>
      </p:sp>
      <p:sp>
        <p:nvSpPr>
          <p:cNvPr id="11" name="Local quick safety check"/>
          <p:cNvSpPr txBox="1"/>
          <p:nvPr/>
        </p:nvSpPr>
        <p:spPr>
          <a:xfrm>
            <a:off x="1508760" y="1856232"/>
            <a:ext cx="2971800" cy="804672"/>
          </a:xfrm>
          <a:prstGeom prst="rect">
            <a:avLst/>
          </a:prstGeom>
          <a:noFill/>
        </p:spPr>
        <p:txBody>
          <a:bodyPr wrap="none" lIns="0" rIns="0" tIns="0" bIns="0" anchor="t">
            <a:noAutofit/>
          </a:bodyPr>
          <a:lstStyle/>
          <a:p>
            <a:pPr algn="l">
              <a:lnSpc>
                <a:spcPct val="110000"/>
              </a:lnSpc>
              <a:spcBef>
                <a:spcPts val="0"/>
              </a:spcBef>
              <a:spcAft>
                <a:spcPts val="0"/>
              </a:spcAft>
              <a:defRPr sz="2400" b="1">
                <a:solidFill>
                  <a:srgbClr val="B3261E"/>
                </a:solidFill>
                <a:latin typeface="Arial"/>
              </a:defRPr>
            </a:pPr>
            <a:r>
              <a:t>Local quick safety</a:t>
            </a:r>
          </a:p>
          <a:p>
            <a:pPr algn="l">
              <a:lnSpc>
                <a:spcPct val="110000"/>
              </a:lnSpc>
              <a:spcBef>
                <a:spcPts val="0"/>
              </a:spcBef>
              <a:spcAft>
                <a:spcPts val="0"/>
              </a:spcAft>
              <a:defRPr sz="2400" b="1">
                <a:solidFill>
                  <a:srgbClr val="B3261E"/>
                </a:solidFill>
                <a:latin typeface="Arial"/>
              </a:defRPr>
            </a:pPr>
            <a:r>
              <a:t>check</a:t>
            </a:r>
          </a:p>
        </p:txBody>
      </p:sp>
      <p:sp>
        <p:nvSpPr>
          <p:cNvPr id="12" name="SpO2 &lt;90%, 30+ breaths/min, new chest pain or confusion"/>
          <p:cNvSpPr txBox="1"/>
          <p:nvPr/>
        </p:nvSpPr>
        <p:spPr>
          <a:xfrm>
            <a:off x="4754880" y="1490472"/>
            <a:ext cx="9144000" cy="1280160"/>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SpO2 &lt;90%, 30+ breaths/min, new chest pain or confusion.</a:t>
            </a:r>
          </a:p>
          <a:p>
            <a:pPr algn="l">
              <a:lnSpc>
                <a:spcPct val="110000"/>
              </a:lnSpc>
              <a:spcBef>
                <a:spcPts val="0"/>
              </a:spcBef>
              <a:spcAft>
                <a:spcPts val="0"/>
              </a:spcAft>
              <a:defRPr sz="2200" b="0">
                <a:solidFill>
                  <a:srgbClr val="1B2230"/>
                </a:solidFill>
                <a:latin typeface="Arial"/>
              </a:defRPr>
            </a:pPr>
            <a:r>
              <a:t>Any one: Get emergency help now. Call 995. No plan.</a:t>
            </a:r>
          </a:p>
          <a:p>
            <a:pPr algn="l">
              <a:lnSpc>
                <a:spcPct val="110000"/>
              </a:lnSpc>
              <a:spcBef>
                <a:spcPts val="0"/>
              </a:spcBef>
              <a:spcAft>
                <a:spcPts val="0"/>
              </a:spcAft>
              <a:defRPr sz="2200" b="0">
                <a:solidFill>
                  <a:srgbClr val="1B2230"/>
                </a:solidFill>
                <a:latin typeface="Arial"/>
              </a:defRPr>
            </a:pPr>
            <a:r>
              <a:t>Unsure or unmeasurable stays unchecked. No network or model.</a:t>
            </a:r>
          </a:p>
        </p:txBody>
      </p:sp>
      <p:sp>
        <p:nvSpPr>
          <p:cNvPr id="13" name="2"/>
          <p:cNvSpPr txBox="1"/>
          <p:nvPr/>
        </p:nvSpPr>
        <p:spPr>
          <a:xfrm>
            <a:off x="640080" y="2862072"/>
            <a:ext cx="548640" cy="603504"/>
          </a:xfrm>
          <a:prstGeom prst="rect">
            <a:avLst/>
          </a:prstGeom>
          <a:noFill/>
        </p:spPr>
        <p:txBody>
          <a:bodyPr wrap="none" lIns="0" rIns="0" tIns="0" bIns="0" anchor="t">
            <a:noAutofit/>
          </a:bodyPr>
          <a:lstStyle/>
          <a:p>
            <a:pPr algn="l">
              <a:lnSpc>
                <a:spcPct val="110000"/>
              </a:lnSpc>
              <a:spcBef>
                <a:spcPts val="0"/>
              </a:spcBef>
              <a:spcAft>
                <a:spcPts val="0"/>
              </a:spcAft>
              <a:defRPr sz="3800" b="1">
                <a:solidFill>
                  <a:srgbClr val="0D5E4F"/>
                </a:solidFill>
                <a:latin typeface="Arial"/>
              </a:defRPr>
            </a:pPr>
            <a:r>
              <a:t>2</a:t>
            </a:r>
          </a:p>
        </p:txBody>
      </p:sp>
      <p:sp>
        <p:nvSpPr>
          <p:cNvPr id="14" name="Before ADP"/>
          <p:cNvSpPr txBox="1"/>
          <p:nvPr/>
        </p:nvSpPr>
        <p:spPr>
          <a:xfrm>
            <a:off x="1508760" y="2862072"/>
            <a:ext cx="3017520" cy="347472"/>
          </a:xfrm>
          <a:prstGeom prst="rect">
            <a:avLst/>
          </a:prstGeom>
          <a:noFill/>
        </p:spPr>
        <p:txBody>
          <a:bodyPr wrap="none" lIns="0" rIns="0" tIns="0" bIns="0" anchor="t">
            <a:noAutofit/>
          </a:bodyPr>
          <a:lstStyle/>
          <a:p>
            <a:pPr algn="l">
              <a:lnSpc>
                <a:spcPct val="110000"/>
              </a:lnSpc>
              <a:spcBef>
                <a:spcPts val="0"/>
              </a:spcBef>
              <a:spcAft>
                <a:spcPts val="0"/>
              </a:spcAft>
              <a:defRPr sz="1900" b="0">
                <a:solidFill>
                  <a:srgbClr val="4F5866"/>
                </a:solidFill>
                <a:latin typeface="Arial"/>
              </a:defRPr>
            </a:pPr>
            <a:r>
              <a:t>Before ADP</a:t>
            </a:r>
          </a:p>
        </p:txBody>
      </p:sp>
      <p:sp>
        <p:nvSpPr>
          <p:cNvPr id="15" name="Durable reservation guard"/>
          <p:cNvSpPr txBox="1"/>
          <p:nvPr/>
        </p:nvSpPr>
        <p:spPr>
          <a:xfrm>
            <a:off x="1508760" y="3300984"/>
            <a:ext cx="2971800" cy="804672"/>
          </a:xfrm>
          <a:prstGeom prst="rect">
            <a:avLst/>
          </a:prstGeom>
          <a:noFill/>
        </p:spPr>
        <p:txBody>
          <a:bodyPr wrap="none" lIns="0" rIns="0" tIns="0" bIns="0" anchor="t">
            <a:noAutofit/>
          </a:bodyPr>
          <a:lstStyle/>
          <a:p>
            <a:pPr algn="l">
              <a:lnSpc>
                <a:spcPct val="110000"/>
              </a:lnSpc>
              <a:spcBef>
                <a:spcPts val="0"/>
              </a:spcBef>
              <a:spcAft>
                <a:spcPts val="0"/>
              </a:spcAft>
              <a:defRPr sz="2400" b="1">
                <a:solidFill>
                  <a:srgbClr val="0D5E4F"/>
                </a:solidFill>
                <a:latin typeface="Arial"/>
              </a:defRPr>
            </a:pPr>
            <a:r>
              <a:t>Durable</a:t>
            </a:r>
          </a:p>
          <a:p>
            <a:pPr algn="l">
              <a:lnSpc>
                <a:spcPct val="110000"/>
              </a:lnSpc>
              <a:spcBef>
                <a:spcPts val="0"/>
              </a:spcBef>
              <a:spcAft>
                <a:spcPts val="0"/>
              </a:spcAft>
              <a:defRPr sz="2400" b="1">
                <a:solidFill>
                  <a:srgbClr val="0D5E4F"/>
                </a:solidFill>
                <a:latin typeface="Arial"/>
              </a:defRPr>
            </a:pPr>
            <a:r>
              <a:t>reservation guard</a:t>
            </a:r>
          </a:p>
        </p:txBody>
      </p:sp>
      <p:sp>
        <p:nvSpPr>
          <p:cNvPr id="16" name="Commit a row before the socket opens. One live call at "/>
          <p:cNvSpPr txBox="1"/>
          <p:nvPr/>
        </p:nvSpPr>
        <p:spPr>
          <a:xfrm>
            <a:off x="4754880" y="2935224"/>
            <a:ext cx="9144000" cy="1280160"/>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Commit a row before the socket opens. One live call at a time.</a:t>
            </a:r>
          </a:p>
          <a:p>
            <a:pPr algn="l">
              <a:lnSpc>
                <a:spcPct val="110000"/>
              </a:lnSpc>
              <a:spcBef>
                <a:spcPts val="0"/>
              </a:spcBef>
              <a:spcAft>
                <a:spcPts val="0"/>
              </a:spcAft>
              <a:defRPr sz="2200" b="0">
                <a:solidFill>
                  <a:srgbClr val="1B2230"/>
                </a:solidFill>
                <a:latin typeface="Arial"/>
              </a:defRPr>
            </a:pPr>
            <a:r>
              <a:t>5 per episode. 100 per Singapore day. 300 total.</a:t>
            </a:r>
          </a:p>
          <a:p>
            <a:pPr algn="l">
              <a:lnSpc>
                <a:spcPct val="110000"/>
              </a:lnSpc>
              <a:spcBef>
                <a:spcPts val="0"/>
              </a:spcBef>
              <a:spcAft>
                <a:spcPts val="0"/>
              </a:spcAft>
              <a:defRPr sz="2200" b="0">
                <a:solidFill>
                  <a:srgbClr val="1B2230"/>
                </a:solidFill>
                <a:latin typeface="Arial"/>
              </a:defRPr>
            </a:pPr>
            <a:r>
              <a:t>Invalid / timeout / transport / lost halts calls. An operator clears it.</a:t>
            </a:r>
          </a:p>
        </p:txBody>
      </p:sp>
      <p:sp>
        <p:nvSpPr>
          <p:cNvPr id="17" name="3"/>
          <p:cNvSpPr txBox="1"/>
          <p:nvPr/>
        </p:nvSpPr>
        <p:spPr>
          <a:xfrm>
            <a:off x="640080" y="4306824"/>
            <a:ext cx="548640" cy="603504"/>
          </a:xfrm>
          <a:prstGeom prst="rect">
            <a:avLst/>
          </a:prstGeom>
          <a:noFill/>
        </p:spPr>
        <p:txBody>
          <a:bodyPr wrap="none" lIns="0" rIns="0" tIns="0" bIns="0" anchor="t">
            <a:noAutofit/>
          </a:bodyPr>
          <a:lstStyle/>
          <a:p>
            <a:pPr algn="l">
              <a:lnSpc>
                <a:spcPct val="110000"/>
              </a:lnSpc>
              <a:spcBef>
                <a:spcPts val="0"/>
              </a:spcBef>
              <a:spcAft>
                <a:spcPts val="0"/>
              </a:spcAft>
              <a:defRPr sz="3800" b="1">
                <a:solidFill>
                  <a:srgbClr val="0052D9"/>
                </a:solidFill>
                <a:latin typeface="Arial"/>
              </a:defRPr>
            </a:pPr>
            <a:r>
              <a:t>3</a:t>
            </a:r>
          </a:p>
        </p:txBody>
      </p:sp>
      <p:sp>
        <p:nvSpPr>
          <p:cNvPr id="18" name="After extraction"/>
          <p:cNvSpPr txBox="1"/>
          <p:nvPr/>
        </p:nvSpPr>
        <p:spPr>
          <a:xfrm>
            <a:off x="1508760" y="4306824"/>
            <a:ext cx="3017520" cy="347472"/>
          </a:xfrm>
          <a:prstGeom prst="rect">
            <a:avLst/>
          </a:prstGeom>
          <a:noFill/>
        </p:spPr>
        <p:txBody>
          <a:bodyPr wrap="none" lIns="0" rIns="0" tIns="0" bIns="0" anchor="t">
            <a:noAutofit/>
          </a:bodyPr>
          <a:lstStyle/>
          <a:p>
            <a:pPr algn="l">
              <a:lnSpc>
                <a:spcPct val="110000"/>
              </a:lnSpc>
              <a:spcBef>
                <a:spcPts val="0"/>
              </a:spcBef>
              <a:spcAft>
                <a:spcPts val="0"/>
              </a:spcAft>
              <a:defRPr sz="1900" b="0">
                <a:solidFill>
                  <a:srgbClr val="4F5866"/>
                </a:solidFill>
                <a:latin typeface="Arial"/>
              </a:defRPr>
            </a:pPr>
            <a:r>
              <a:t>After extraction</a:t>
            </a:r>
          </a:p>
        </p:txBody>
      </p:sp>
      <p:sp>
        <p:nvSpPr>
          <p:cNvPr id="19" name="Abstention and refusal"/>
          <p:cNvSpPr txBox="1"/>
          <p:nvPr/>
        </p:nvSpPr>
        <p:spPr>
          <a:xfrm>
            <a:off x="1508760" y="4745736"/>
            <a:ext cx="2971800" cy="804672"/>
          </a:xfrm>
          <a:prstGeom prst="rect">
            <a:avLst/>
          </a:prstGeom>
          <a:noFill/>
        </p:spPr>
        <p:txBody>
          <a:bodyPr wrap="none" lIns="0" rIns="0" tIns="0" bIns="0" anchor="t">
            <a:noAutofit/>
          </a:bodyPr>
          <a:lstStyle/>
          <a:p>
            <a:pPr algn="l">
              <a:lnSpc>
                <a:spcPct val="110000"/>
              </a:lnSpc>
              <a:spcBef>
                <a:spcPts val="0"/>
              </a:spcBef>
              <a:spcAft>
                <a:spcPts val="0"/>
              </a:spcAft>
              <a:defRPr sz="2400" b="1">
                <a:solidFill>
                  <a:srgbClr val="0052D9"/>
                </a:solidFill>
                <a:latin typeface="Arial"/>
              </a:defRPr>
            </a:pPr>
            <a:r>
              <a:t>Abstention and</a:t>
            </a:r>
          </a:p>
          <a:p>
            <a:pPr algn="l">
              <a:lnSpc>
                <a:spcPct val="110000"/>
              </a:lnSpc>
              <a:spcBef>
                <a:spcPts val="0"/>
              </a:spcBef>
              <a:spcAft>
                <a:spcPts val="0"/>
              </a:spcAft>
              <a:defRPr sz="2400" b="1">
                <a:solidFill>
                  <a:srgbClr val="0052D9"/>
                </a:solidFill>
                <a:latin typeface="Arial"/>
              </a:defRPr>
            </a:pPr>
            <a:r>
              <a:t>refusal</a:t>
            </a:r>
          </a:p>
        </p:txBody>
      </p:sp>
      <p:sp>
        <p:nvSpPr>
          <p:cNvPr id="20" name="Clinical requests and injected instructions are refused"/>
          <p:cNvSpPr txBox="1"/>
          <p:nvPr/>
        </p:nvSpPr>
        <p:spPr>
          <a:xfrm>
            <a:off x="4754880" y="4379976"/>
            <a:ext cx="9144000" cy="1280160"/>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Clinical requests and injected instructions are refused and unscored.</a:t>
            </a:r>
          </a:p>
          <a:p>
            <a:pPr algn="l">
              <a:lnSpc>
                <a:spcPct val="110000"/>
              </a:lnSpc>
              <a:spcBef>
                <a:spcPts val="0"/>
              </a:spcBef>
              <a:spcAft>
                <a:spcPts val="0"/>
              </a:spcAft>
              <a:defRPr sz="2200" b="0">
                <a:solidFill>
                  <a:srgbClr val="1B2230"/>
                </a:solidFill>
                <a:latin typeface="Arial"/>
              </a:defRPr>
            </a:pPr>
            <a:r>
              <a:t>Uncertain fields show: We could not confirm that.</a:t>
            </a:r>
          </a:p>
        </p:txBody>
      </p:sp>
      <p:sp>
        <p:nvSpPr>
          <p:cNvPr id="21" name="4"/>
          <p:cNvSpPr txBox="1"/>
          <p:nvPr/>
        </p:nvSpPr>
        <p:spPr>
          <a:xfrm>
            <a:off x="640080" y="5751576"/>
            <a:ext cx="548640" cy="603504"/>
          </a:xfrm>
          <a:prstGeom prst="rect">
            <a:avLst/>
          </a:prstGeom>
          <a:noFill/>
        </p:spPr>
        <p:txBody>
          <a:bodyPr wrap="none" lIns="0" rIns="0" tIns="0" bIns="0" anchor="t">
            <a:noAutofit/>
          </a:bodyPr>
          <a:lstStyle/>
          <a:p>
            <a:pPr algn="l">
              <a:lnSpc>
                <a:spcPct val="110000"/>
              </a:lnSpc>
              <a:spcBef>
                <a:spcPts val="0"/>
              </a:spcBef>
              <a:spcAft>
                <a:spcPts val="0"/>
              </a:spcAft>
              <a:defRPr sz="3800" b="1">
                <a:solidFill>
                  <a:srgbClr val="0D5E4F"/>
                </a:solidFill>
                <a:latin typeface="Arial"/>
              </a:defRPr>
            </a:pPr>
            <a:r>
              <a:t>4</a:t>
            </a:r>
          </a:p>
        </p:txBody>
      </p:sp>
      <p:sp>
        <p:nvSpPr>
          <p:cNvPr id="22" name="After a request"/>
          <p:cNvSpPr txBox="1"/>
          <p:nvPr/>
        </p:nvSpPr>
        <p:spPr>
          <a:xfrm>
            <a:off x="1508760" y="5751576"/>
            <a:ext cx="3017520" cy="347472"/>
          </a:xfrm>
          <a:prstGeom prst="rect">
            <a:avLst/>
          </a:prstGeom>
          <a:noFill/>
        </p:spPr>
        <p:txBody>
          <a:bodyPr wrap="none" lIns="0" rIns="0" tIns="0" bIns="0" anchor="t">
            <a:noAutofit/>
          </a:bodyPr>
          <a:lstStyle/>
          <a:p>
            <a:pPr algn="l">
              <a:lnSpc>
                <a:spcPct val="110000"/>
              </a:lnSpc>
              <a:spcBef>
                <a:spcPts val="0"/>
              </a:spcBef>
              <a:spcAft>
                <a:spcPts val="0"/>
              </a:spcAft>
              <a:defRPr sz="1900" b="0">
                <a:solidFill>
                  <a:srgbClr val="4F5866"/>
                </a:solidFill>
                <a:latin typeface="Arial"/>
              </a:defRPr>
            </a:pPr>
            <a:r>
              <a:t>After a request</a:t>
            </a:r>
          </a:p>
        </p:txBody>
      </p:sp>
      <p:sp>
        <p:nvSpPr>
          <p:cNvPr id="23" name="Truthful closure"/>
          <p:cNvSpPr txBox="1"/>
          <p:nvPr/>
        </p:nvSpPr>
        <p:spPr>
          <a:xfrm>
            <a:off x="1508760" y="6190488"/>
            <a:ext cx="2971800" cy="804672"/>
          </a:xfrm>
          <a:prstGeom prst="rect">
            <a:avLst/>
          </a:prstGeom>
          <a:noFill/>
        </p:spPr>
        <p:txBody>
          <a:bodyPr wrap="none" lIns="0" rIns="0" tIns="0" bIns="0" anchor="t">
            <a:noAutofit/>
          </a:bodyPr>
          <a:lstStyle/>
          <a:p>
            <a:pPr algn="l">
              <a:lnSpc>
                <a:spcPct val="110000"/>
              </a:lnSpc>
              <a:spcBef>
                <a:spcPts val="0"/>
              </a:spcBef>
              <a:spcAft>
                <a:spcPts val="0"/>
              </a:spcAft>
              <a:defRPr sz="2400" b="1">
                <a:solidFill>
                  <a:srgbClr val="0D5E4F"/>
                </a:solidFill>
                <a:latin typeface="Arial"/>
              </a:defRPr>
            </a:pPr>
            <a:r>
              <a:t>Truthful closure</a:t>
            </a:r>
          </a:p>
        </p:txBody>
      </p:sp>
      <p:sp>
        <p:nvSpPr>
          <p:cNvPr id="24" name="Execution and evidence are separate axes. A sent reques"/>
          <p:cNvSpPr txBox="1"/>
          <p:nvPr/>
        </p:nvSpPr>
        <p:spPr>
          <a:xfrm>
            <a:off x="4754880" y="5824728"/>
            <a:ext cx="9144000" cy="1280160"/>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Execution and evidence are separate axes. A sent request is never</a:t>
            </a:r>
          </a:p>
          <a:p>
            <a:pPr algn="l">
              <a:lnSpc>
                <a:spcPct val="110000"/>
              </a:lnSpc>
              <a:spcBef>
                <a:spcPts val="0"/>
              </a:spcBef>
              <a:spcAft>
                <a:spcPts val="0"/>
              </a:spcAft>
              <a:defRPr sz="2200" b="0">
                <a:solidFill>
                  <a:srgbClr val="1B2230"/>
                </a:solidFill>
                <a:latin typeface="Arial"/>
              </a:defRPr>
            </a:pPr>
            <a:r>
              <a:t>care.</a:t>
            </a:r>
          </a:p>
          <a:p>
            <a:pPr algn="l">
              <a:lnSpc>
                <a:spcPct val="110000"/>
              </a:lnSpc>
              <a:spcBef>
                <a:spcPts val="0"/>
              </a:spcBef>
              <a:spcAft>
                <a:spcPts val="0"/>
              </a:spcAft>
              <a:defRPr sz="2200" b="0">
                <a:solidFill>
                  <a:srgbClr val="1B2230"/>
                </a:solidFill>
                <a:latin typeface="Arial"/>
              </a:defRPr>
            </a:pPr>
            <a:r>
              <a:t>A simulated failure keeps the plan, deadline and open case.</a:t>
            </a:r>
          </a:p>
        </p:txBody>
      </p:sp>
      <p:sp>
        <p:nvSpPr>
          <p:cNvPr id="25" name="Scenario 2 example warning signs. Not clinically review"/>
          <p:cNvSpPr txBox="1"/>
          <p:nvPr/>
        </p:nvSpPr>
        <p:spPr>
          <a:xfrm>
            <a:off x="621792" y="7315200"/>
            <a:ext cx="13350240" cy="384048"/>
          </a:xfrm>
          <a:prstGeom prst="rect">
            <a:avLst/>
          </a:prstGeom>
          <a:noFill/>
        </p:spPr>
        <p:txBody>
          <a:bodyPr wrap="none" lIns="0" rIns="0" tIns="0" bIns="0" anchor="t">
            <a:noAutofit/>
          </a:bodyPr>
          <a:lstStyle/>
          <a:p>
            <a:pPr algn="l">
              <a:lnSpc>
                <a:spcPct val="110000"/>
              </a:lnSpc>
              <a:spcBef>
                <a:spcPts val="0"/>
              </a:spcBef>
              <a:spcAft>
                <a:spcPts val="0"/>
              </a:spcAft>
              <a:defRPr sz="1900" b="0">
                <a:solidFill>
                  <a:srgbClr val="4F5866"/>
                </a:solidFill>
                <a:latin typeface="Arial"/>
              </a:defRPr>
            </a:pPr>
            <a:r>
              <a:t>Scenario 2 example warning signs. Not clinically reviewed. A structured ADP refusal does not halt live calls.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5F2"/>
        </a:solidFill>
        <a:effectLst/>
      </p:bgPr>
    </p:bg>
    <p:spTree>
      <p:nvGrpSpPr>
        <p:cNvPr id="1" name=""/>
        <p:cNvGrpSpPr/>
        <p:nvPr/>
      </p:nvGrpSpPr>
      <p:grpSpPr/>
      <p:sp>
        <p:nvSpPr>
          <p:cNvPr id="2" name="Slide title"/>
          <p:cNvSpPr txBox="1"/>
          <p:nvPr/>
        </p:nvSpPr>
        <p:spPr>
          <a:xfrm>
            <a:off x="548640" y="384048"/>
            <a:ext cx="13533120" cy="621792"/>
          </a:xfrm>
          <a:prstGeom prst="rect">
            <a:avLst/>
          </a:prstGeom>
          <a:noFill/>
        </p:spPr>
        <p:txBody>
          <a:bodyPr wrap="none" lIns="0" rIns="0" tIns="0" bIns="0" anchor="t">
            <a:noAutofit/>
          </a:bodyPr>
          <a:lstStyle/>
          <a:p>
            <a:pPr algn="l">
              <a:lnSpc>
                <a:spcPct val="110000"/>
              </a:lnSpc>
              <a:spcBef>
                <a:spcPts val="0"/>
              </a:spcBef>
              <a:spcAft>
                <a:spcPts val="0"/>
              </a:spcAft>
              <a:defRPr sz="4000" b="1">
                <a:solidFill>
                  <a:srgbClr val="1B2230"/>
                </a:solidFill>
                <a:latin typeface="Arial"/>
              </a:defRPr>
            </a:pPr>
            <a:r>
              <a:t>Key design trade-offs</a:t>
            </a:r>
          </a:p>
        </p:txBody>
      </p:sp>
      <p:cxnSp>
        <p:nvCxnSpPr>
          <p:cNvPr id="3" name="Editable connector"/>
          <p:cNvCxnSpPr/>
          <p:nvPr/>
        </p:nvCxnSpPr>
        <p:spPr>
          <a:xfrm>
            <a:off x="548640" y="7818120"/>
            <a:ext cx="13533120" cy="0"/>
          </a:xfrm>
          <a:prstGeom prst="line">
            <a:avLst/>
          </a:prstGeom>
          <a:ln w="12700">
            <a:solidFill>
              <a:srgbClr val="D3D9D4"/>
            </a:solidFill>
          </a:ln>
          <a:effectLst/>
        </p:spPr>
        <p:style>
          <a:lnRef idx="2">
            <a:schemeClr val="accent1"/>
          </a:lnRef>
          <a:fillRef idx="0">
            <a:schemeClr val="accent1"/>
          </a:fillRef>
          <a:effectRef idx="0">
            <a:schemeClr val="accent1"/>
          </a:effectRef>
          <a:fontRef idx="minor">
            <a:schemeClr val="tx1"/>
          </a:fontRef>
        </p:style>
      </p:cxnSp>
      <p:sp>
        <p:nvSpPr>
          <p:cNvPr id="4" name="Simulated demo. Not medical advice."/>
          <p:cNvSpPr txBox="1"/>
          <p:nvPr/>
        </p:nvSpPr>
        <p:spPr>
          <a:xfrm>
            <a:off x="566928" y="7936992"/>
            <a:ext cx="10972800" cy="228600"/>
          </a:xfrm>
          <a:prstGeom prst="rect">
            <a:avLst/>
          </a:prstGeom>
          <a:noFill/>
        </p:spPr>
        <p:txBody>
          <a:bodyPr wrap="none" lIns="0" rIns="0" tIns="0" bIns="0" anchor="t">
            <a:noAutofit/>
          </a:bodyPr>
          <a:lstStyle/>
          <a:p>
            <a:pPr algn="l">
              <a:lnSpc>
                <a:spcPct val="110000"/>
              </a:lnSpc>
              <a:spcBef>
                <a:spcPts val="0"/>
              </a:spcBef>
              <a:spcAft>
                <a:spcPts val="0"/>
              </a:spcAft>
              <a:defRPr sz="1400" b="0">
                <a:solidFill>
                  <a:srgbClr val="4F5866"/>
                </a:solidFill>
                <a:latin typeface="Arial"/>
              </a:defRPr>
            </a:pPr>
            <a:r>
              <a:t>Simulated demo. Not medical advice.</a:t>
            </a:r>
          </a:p>
        </p:txBody>
      </p:sp>
      <p:sp>
        <p:nvSpPr>
          <p:cNvPr id="5" name="7"/>
          <p:cNvSpPr txBox="1"/>
          <p:nvPr/>
        </p:nvSpPr>
        <p:spPr>
          <a:xfrm>
            <a:off x="13487400" y="7936992"/>
            <a:ext cx="566928" cy="228600"/>
          </a:xfrm>
          <a:prstGeom prst="rect">
            <a:avLst/>
          </a:prstGeom>
          <a:noFill/>
        </p:spPr>
        <p:txBody>
          <a:bodyPr wrap="none" lIns="0" rIns="0" tIns="0" bIns="0" anchor="t">
            <a:noAutofit/>
          </a:bodyPr>
          <a:lstStyle/>
          <a:p>
            <a:pPr algn="r">
              <a:lnSpc>
                <a:spcPct val="110000"/>
              </a:lnSpc>
              <a:spcBef>
                <a:spcPts val="0"/>
              </a:spcBef>
              <a:spcAft>
                <a:spcPts val="0"/>
              </a:spcAft>
              <a:defRPr sz="1400" b="0">
                <a:solidFill>
                  <a:srgbClr val="4F5866"/>
                </a:solidFill>
                <a:latin typeface="Arial"/>
              </a:defRPr>
            </a:pPr>
            <a:r>
              <a:t>7</a:t>
            </a:r>
          </a:p>
        </p:txBody>
      </p:sp>
      <p:graphicFrame>
        <p:nvGraphicFramePr>
          <p:cNvPr id="6" name="Editable comparison table"/>
          <p:cNvGraphicFramePr>
            <a:graphicFrameLocks noGrp="1"/>
          </p:cNvGraphicFramePr>
          <p:nvPr/>
        </p:nvGraphicFramePr>
        <p:xfrm>
          <a:off x="548640" y="1463040"/>
          <a:ext cx="13533120" cy="5385816"/>
        </p:xfrm>
        <a:graphic>
          <a:graphicData uri="http://schemas.openxmlformats.org/drawingml/2006/table">
            <a:tbl>
              <a:tblPr firstRow="1" bandRow="1">
                <a:tableStyleId>{5C22544A-7EE6-4342-B048-85BDC9FD1C3A}</a:tableStyleId>
              </a:tblPr>
              <a:tblGrid>
                <a:gridCol w="3657600"/>
                <a:gridCol w="4480560"/>
                <a:gridCol w="5394960"/>
              </a:tblGrid>
              <a:tr h="512064">
                <a:tc>
                  <a:txBody>
                    <a:bodyPr lIns="0" rIns="0" tIns="0" bIns="0" wrap="none" anchor="t">
                      <a:noAutofit/>
                    </a:bodyPr>
                    <a:lstStyle/>
                    <a:p>
                      <a:pPr algn="l">
                        <a:lnSpc>
                          <a:spcPct val="110000"/>
                        </a:lnSpc>
                        <a:spcBef>
                          <a:spcPts val="0"/>
                        </a:spcBef>
                        <a:spcAft>
                          <a:spcPts val="0"/>
                        </a:spcAft>
                        <a:defRPr sz="2200" b="1">
                          <a:solidFill>
                            <a:srgbClr val="FFFFFF"/>
                          </a:solidFill>
                          <a:latin typeface="Arial"/>
                        </a:defRPr>
                      </a:pPr>
                      <a:r>
                        <a:t>Decision</a:t>
                      </a:r>
                    </a:p>
                  </a:txBody>
                  <a:tcPr marL="128016" marR="128016" marT="59436" marB="59436">
                    <a:solidFill>
                      <a:srgbClr val="0D5E4F"/>
                    </a:solidFill>
                  </a:tcPr>
                </a:tc>
                <a:tc>
                  <a:txBody>
                    <a:bodyPr lIns="0" rIns="0" tIns="0" bIns="0" wrap="none" anchor="t">
                      <a:noAutofit/>
                    </a:bodyPr>
                    <a:lstStyle/>
                    <a:p>
                      <a:pPr algn="l">
                        <a:lnSpc>
                          <a:spcPct val="110000"/>
                        </a:lnSpc>
                        <a:spcBef>
                          <a:spcPts val="0"/>
                        </a:spcBef>
                        <a:spcAft>
                          <a:spcPts val="0"/>
                        </a:spcAft>
                        <a:defRPr sz="2200" b="1">
                          <a:solidFill>
                            <a:srgbClr val="FFFFFF"/>
                          </a:solidFill>
                          <a:latin typeface="Arial"/>
                        </a:defRPr>
                      </a:pPr>
                      <a:r>
                        <a:t>Why</a:t>
                      </a:r>
                    </a:p>
                  </a:txBody>
                  <a:tcPr marL="128016" marR="128016" marT="59436" marB="59436">
                    <a:solidFill>
                      <a:srgbClr val="0D5E4F"/>
                    </a:solidFill>
                  </a:tcPr>
                </a:tc>
                <a:tc>
                  <a:txBody>
                    <a:bodyPr lIns="0" rIns="0" tIns="0" bIns="0" wrap="none" anchor="t">
                      <a:noAutofit/>
                    </a:bodyPr>
                    <a:lstStyle/>
                    <a:p>
                      <a:pPr algn="l">
                        <a:lnSpc>
                          <a:spcPct val="110000"/>
                        </a:lnSpc>
                        <a:spcBef>
                          <a:spcPts val="0"/>
                        </a:spcBef>
                        <a:spcAft>
                          <a:spcPts val="0"/>
                        </a:spcAft>
                        <a:defRPr sz="2200" b="1">
                          <a:solidFill>
                            <a:srgbClr val="FFFFFF"/>
                          </a:solidFill>
                          <a:latin typeface="Arial"/>
                        </a:defRPr>
                      </a:pPr>
                      <a:r>
                        <a:t>Cost</a:t>
                      </a:r>
                    </a:p>
                  </a:txBody>
                  <a:tcPr marL="128016" marR="128016" marT="59436" marB="59436">
                    <a:solidFill>
                      <a:srgbClr val="0D5E4F"/>
                    </a:solidFill>
                  </a:tcPr>
                </a:tc>
              </a:tr>
              <a:tr h="768096">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Code decides</a:t>
                      </a:r>
                    </a:p>
                  </a:txBody>
                  <a:tcPr marL="128016" marR="128016" marT="59436" marB="59436">
                    <a:solidFill>
                      <a:srgbClr val="FFFFFF"/>
                    </a:solidFill>
                  </a:tcPr>
                </a:tc>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Explicit, testable rules.</a:t>
                      </a:r>
                    </a:p>
                  </a:txBody>
                  <a:tcPr marL="128016" marR="128016" marT="59436" marB="59436">
                    <a:solidFill>
                      <a:srgbClr val="FFFFFF"/>
                    </a:solidFill>
                  </a:tcPr>
                </a:tc>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Narrow language coverage.</a:t>
                      </a:r>
                    </a:p>
                    <a:p>
                      <a:pPr algn="l">
                        <a:lnSpc>
                          <a:spcPct val="110000"/>
                        </a:lnSpc>
                        <a:spcBef>
                          <a:spcPts val="0"/>
                        </a:spcBef>
                        <a:spcAft>
                          <a:spcPts val="0"/>
                        </a:spcAft>
                        <a:defRPr sz="2100" b="0">
                          <a:solidFill>
                            <a:srgbClr val="1B2230"/>
                          </a:solidFill>
                          <a:latin typeface="Arial"/>
                        </a:defRPr>
                      </a:pPr>
                      <a:r>
                        <a:t>Rules need upkeep.</a:t>
                      </a:r>
                    </a:p>
                  </a:txBody>
                  <a:tcPr marL="128016" marR="128016" marT="59436" marB="59436">
                    <a:solidFill>
                      <a:srgbClr val="FFFFFF"/>
                    </a:solidFill>
                  </a:tcPr>
                </a:tc>
              </a:tr>
              <a:tr h="960120">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One live call at a time</a:t>
                      </a:r>
                    </a:p>
                    <a:p>
                      <a:pPr algn="l">
                        <a:lnSpc>
                          <a:spcPct val="110000"/>
                        </a:lnSpc>
                        <a:spcBef>
                          <a:spcPts val="0"/>
                        </a:spcBef>
                        <a:spcAft>
                          <a:spcPts val="0"/>
                        </a:spcAft>
                        <a:defRPr sz="2100" b="0">
                          <a:solidFill>
                            <a:srgbClr val="1B2230"/>
                          </a:solidFill>
                          <a:latin typeface="Arial"/>
                        </a:defRPr>
                      </a:pPr>
                      <a:r>
                        <a:t>Pause on failure</a:t>
                      </a:r>
                    </a:p>
                  </a:txBody>
                  <a:tcPr marL="128016" marR="128016" marT="59436" marB="59436">
                    <a:solidFill>
                      <a:srgbClr val="F3F5F2"/>
                    </a:solidFill>
                  </a:tcPr>
                </a:tc>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Bounds sends across visitors</a:t>
                      </a:r>
                    </a:p>
                    <a:p>
                      <a:pPr algn="l">
                        <a:lnSpc>
                          <a:spcPct val="110000"/>
                        </a:lnSpc>
                        <a:spcBef>
                          <a:spcPts val="0"/>
                        </a:spcBef>
                        <a:spcAft>
                          <a:spcPts val="0"/>
                        </a:spcAft>
                        <a:defRPr sz="2100" b="0">
                          <a:solidFill>
                            <a:srgbClr val="1B2230"/>
                          </a:solidFill>
                          <a:latin typeface="Arial"/>
                        </a:defRPr>
                      </a:pPr>
                      <a:r>
                        <a:t>and restarts.</a:t>
                      </a:r>
                    </a:p>
                  </a:txBody>
                  <a:tcPr marL="128016" marR="128016" marT="59436" marB="59436">
                    <a:solidFill>
                      <a:srgbClr val="F3F5F2"/>
                    </a:solidFill>
                  </a:tcPr>
                </a:tc>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Concurrent judges may see unavailable.</a:t>
                      </a:r>
                    </a:p>
                    <a:p>
                      <a:pPr algn="l">
                        <a:lnSpc>
                          <a:spcPct val="110000"/>
                        </a:lnSpc>
                        <a:spcBef>
                          <a:spcPts val="0"/>
                        </a:spcBef>
                        <a:spcAft>
                          <a:spcPts val="0"/>
                        </a:spcAft>
                        <a:defRPr sz="2100" b="0">
                          <a:solidFill>
                            <a:srgbClr val="1B2230"/>
                          </a:solidFill>
                          <a:latin typeface="Arial"/>
                        </a:defRPr>
                      </a:pPr>
                      <a:r>
                        <a:t>An operator must clear a failure.</a:t>
                      </a:r>
                    </a:p>
                  </a:txBody>
                  <a:tcPr marL="128016" marR="128016" marT="59436" marB="59436">
                    <a:solidFill>
                      <a:srgbClr val="F3F5F2"/>
                    </a:solidFill>
                  </a:tcPr>
                </a:tc>
              </a:tr>
              <a:tr h="768096">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Free hosting tiers</a:t>
                      </a:r>
                    </a:p>
                  </a:txBody>
                  <a:tcPr marL="128016" marR="128016" marT="59436" marB="59436">
                    <a:solidFill>
                      <a:srgbClr val="FFFFFF"/>
                    </a:solidFill>
                  </a:tcPr>
                </a:tc>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Lower demo hosting cost.</a:t>
                      </a:r>
                    </a:p>
                  </a:txBody>
                  <a:tcPr marL="128016" marR="128016" marT="59436" marB="59436">
                    <a:solidFill>
                      <a:srgbClr val="FFFFFF"/>
                    </a:solidFill>
                  </a:tcPr>
                </a:tc>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Cold starts and network delay</a:t>
                      </a:r>
                    </a:p>
                    <a:p>
                      <a:pPr algn="l">
                        <a:lnSpc>
                          <a:spcPct val="110000"/>
                        </a:lnSpc>
                        <a:spcBef>
                          <a:spcPts val="0"/>
                        </a:spcBef>
                        <a:spcAft>
                          <a:spcPts val="0"/>
                        </a:spcAft>
                        <a:defRPr sz="2100" b="0">
                          <a:solidFill>
                            <a:srgbClr val="1B2230"/>
                          </a:solidFill>
                          <a:latin typeface="Arial"/>
                        </a:defRPr>
                      </a:pPr>
                      <a:r>
                        <a:t>can cause timeouts.</a:t>
                      </a:r>
                    </a:p>
                  </a:txBody>
                  <a:tcPr marL="128016" marR="128016" marT="59436" marB="59436">
                    <a:solidFill>
                      <a:srgbClr val="FFFFFF"/>
                    </a:solidFill>
                  </a:tcPr>
                </a:tc>
              </a:tr>
              <a:tr h="841248">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Provider is simulated</a:t>
                      </a:r>
                    </a:p>
                  </a:txBody>
                  <a:tcPr marL="128016" marR="128016" marT="59436" marB="59436">
                    <a:solidFill>
                      <a:srgbClr val="F3F5F2"/>
                    </a:solidFill>
                  </a:tcPr>
                </a:tc>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Repeatable failure demonstration.</a:t>
                      </a:r>
                    </a:p>
                  </a:txBody>
                  <a:tcPr marL="128016" marR="128016" marT="59436" marB="59436">
                    <a:solidFill>
                      <a:srgbClr val="F3F5F2"/>
                    </a:solidFill>
                  </a:tcPr>
                </a:tc>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No real booking or healthcare</a:t>
                      </a:r>
                    </a:p>
                    <a:p>
                      <a:pPr algn="l">
                        <a:lnSpc>
                          <a:spcPct val="110000"/>
                        </a:lnSpc>
                        <a:spcBef>
                          <a:spcPts val="0"/>
                        </a:spcBef>
                        <a:spcAft>
                          <a:spcPts val="0"/>
                        </a:spcAft>
                        <a:defRPr sz="2100" b="0">
                          <a:solidFill>
                            <a:srgbClr val="1B2230"/>
                          </a:solidFill>
                          <a:latin typeface="Arial"/>
                        </a:defRPr>
                      </a:pPr>
                      <a:r>
                        <a:t>connection.</a:t>
                      </a:r>
                    </a:p>
                  </a:txBody>
                  <a:tcPr marL="128016" marR="128016" marT="59436" marB="59436">
                    <a:solidFill>
                      <a:srgbClr val="F3F5F2"/>
                    </a:solidFill>
                  </a:tcPr>
                </a:tc>
              </a:tr>
              <a:tr h="768096">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Safety answers stay local</a:t>
                      </a:r>
                    </a:p>
                  </a:txBody>
                  <a:tcPr marL="128016" marR="128016" marT="59436" marB="59436">
                    <a:solidFill>
                      <a:srgbClr val="FFFFFF"/>
                    </a:solidFill>
                  </a:tcPr>
                </a:tc>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No stored safety-answer history.</a:t>
                      </a:r>
                    </a:p>
                  </a:txBody>
                  <a:tcPr marL="128016" marR="128016" marT="59436" marB="59436">
                    <a:solidFill>
                      <a:srgbClr val="FFFFFF"/>
                    </a:solidFill>
                  </a:tcPr>
                </a:tc>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No audit or judge-panel trace.</a:t>
                      </a:r>
                    </a:p>
                  </a:txBody>
                  <a:tcPr marL="128016" marR="128016" marT="59436" marB="59436">
                    <a:solidFill>
                      <a:srgbClr val="FFFFFF"/>
                    </a:solidFill>
                  </a:tcPr>
                </a:tc>
              </a:tr>
              <a:tr h="768096">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Challenge example</a:t>
                      </a:r>
                    </a:p>
                    <a:p>
                      <a:pPr algn="l">
                        <a:lnSpc>
                          <a:spcPct val="110000"/>
                        </a:lnSpc>
                        <a:spcBef>
                          <a:spcPts val="0"/>
                        </a:spcBef>
                        <a:spcAft>
                          <a:spcPts val="0"/>
                        </a:spcAft>
                        <a:defRPr sz="2100" b="0">
                          <a:solidFill>
                            <a:srgbClr val="1B2230"/>
                          </a:solidFill>
                          <a:latin typeface="Arial"/>
                        </a:defRPr>
                      </a:pPr>
                      <a:r>
                        <a:t>thresholds</a:t>
                      </a:r>
                    </a:p>
                  </a:txBody>
                  <a:tcPr marL="128016" marR="128016" marT="59436" marB="59436">
                    <a:solidFill>
                      <a:srgbClr val="F3F5F2"/>
                    </a:solidFill>
                  </a:tcPr>
                </a:tc>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Labelled emergency screen.</a:t>
                      </a:r>
                    </a:p>
                  </a:txBody>
                  <a:tcPr marL="128016" marR="128016" marT="59436" marB="59436">
                    <a:solidFill>
                      <a:srgbClr val="F3F5F2"/>
                    </a:solidFill>
                  </a:tcPr>
                </a:tc>
                <a:tc>
                  <a:txBody>
                    <a:bodyPr lIns="0" rIns="0" tIns="0" bIns="0" wrap="none" anchor="t">
                      <a:noAutofit/>
                    </a:bodyPr>
                    <a:lstStyle/>
                    <a:p>
                      <a:pPr algn="l">
                        <a:lnSpc>
                          <a:spcPct val="110000"/>
                        </a:lnSpc>
                        <a:spcBef>
                          <a:spcPts val="0"/>
                        </a:spcBef>
                        <a:spcAft>
                          <a:spcPts val="0"/>
                        </a:spcAft>
                        <a:defRPr sz="2100" b="0">
                          <a:solidFill>
                            <a:srgbClr val="1B2230"/>
                          </a:solidFill>
                          <a:latin typeface="Arial"/>
                        </a:defRPr>
                      </a:pPr>
                      <a:r>
                        <a:t>No clinical review or validated protocol.</a:t>
                      </a:r>
                    </a:p>
                  </a:txBody>
                  <a:tcPr marL="128016" marR="128016" marT="59436" marB="59436">
                    <a:solidFill>
                      <a:srgbClr val="F3F5F2"/>
                    </a:solidFill>
                  </a:tcPr>
                </a:tc>
              </a:tr>
            </a:tbl>
          </a:graphicData>
        </a:graphic>
      </p:graphicFrame>
      <p:sp>
        <p:nvSpPr>
          <p:cNvPr id="7" name="Latency finding: 30 to 94 SQL statements per request at"/>
          <p:cNvSpPr txBox="1"/>
          <p:nvPr/>
        </p:nvSpPr>
        <p:spPr>
          <a:xfrm>
            <a:off x="621792" y="6995160"/>
            <a:ext cx="13350240" cy="704088"/>
          </a:xfrm>
          <a:prstGeom prst="rect">
            <a:avLst/>
          </a:prstGeom>
          <a:noFill/>
        </p:spPr>
        <p:txBody>
          <a:bodyPr wrap="none" lIns="0" rIns="0" tIns="0" bIns="0" anchor="t">
            <a:noAutofit/>
          </a:bodyPr>
          <a:lstStyle/>
          <a:p>
            <a:pPr algn="l">
              <a:lnSpc>
                <a:spcPct val="110000"/>
              </a:lnSpc>
              <a:spcBef>
                <a:spcPts val="0"/>
              </a:spcBef>
              <a:spcAft>
                <a:spcPts val="0"/>
              </a:spcAft>
              <a:defRPr sz="2300" b="0">
                <a:solidFill>
                  <a:srgbClr val="4F5866"/>
                </a:solidFill>
                <a:latin typeface="Arial"/>
              </a:defRPr>
            </a:pPr>
            <a:r>
              <a:t>Latency finding: 30 to 94 SQL statements per request at about 0.2 s each caused timeouts.</a:t>
            </a:r>
          </a:p>
          <a:p>
            <a:pPr algn="l">
              <a:lnSpc>
                <a:spcPct val="110000"/>
              </a:lnSpc>
              <a:spcBef>
                <a:spcPts val="0"/>
              </a:spcBef>
              <a:spcAft>
                <a:spcPts val="0"/>
              </a:spcAft>
              <a:defRPr sz="2300" b="0">
                <a:solidFill>
                  <a:srgbClr val="4F5866"/>
                </a:solidFill>
                <a:latin typeface="Arial"/>
              </a:defRPr>
            </a:pPr>
            <a:r>
              <a:t>The database moved to Virginia. The current Render region is [unknown].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5F2"/>
        </a:solidFill>
        <a:effectLst/>
      </p:bgPr>
    </p:bg>
    <p:spTree>
      <p:nvGrpSpPr>
        <p:cNvPr id="1" name=""/>
        <p:cNvGrpSpPr/>
        <p:nvPr/>
      </p:nvGrpSpPr>
      <p:grpSpPr/>
      <p:sp>
        <p:nvSpPr>
          <p:cNvPr id="2" name="Slide title"/>
          <p:cNvSpPr txBox="1"/>
          <p:nvPr/>
        </p:nvSpPr>
        <p:spPr>
          <a:xfrm>
            <a:off x="548640" y="384048"/>
            <a:ext cx="13533120" cy="621792"/>
          </a:xfrm>
          <a:prstGeom prst="rect">
            <a:avLst/>
          </a:prstGeom>
          <a:noFill/>
        </p:spPr>
        <p:txBody>
          <a:bodyPr wrap="none" lIns="0" rIns="0" tIns="0" bIns="0" anchor="t">
            <a:noAutofit/>
          </a:bodyPr>
          <a:lstStyle/>
          <a:p>
            <a:pPr algn="l">
              <a:lnSpc>
                <a:spcPct val="110000"/>
              </a:lnSpc>
              <a:spcBef>
                <a:spcPts val="0"/>
              </a:spcBef>
              <a:spcAft>
                <a:spcPts val="0"/>
              </a:spcAft>
              <a:defRPr sz="4000" b="1">
                <a:solidFill>
                  <a:srgbClr val="1B2230"/>
                </a:solidFill>
                <a:latin typeface="Arial"/>
              </a:defRPr>
            </a:pPr>
            <a:r>
              <a:t>Evidence and limits</a:t>
            </a:r>
          </a:p>
        </p:txBody>
      </p:sp>
      <p:sp>
        <p:nvSpPr>
          <p:cNvPr id="3" name="Recorded local evidence, 16 October 2026. It does not p"/>
          <p:cNvSpPr txBox="1"/>
          <p:nvPr/>
        </p:nvSpPr>
        <p:spPr>
          <a:xfrm>
            <a:off x="566928" y="1097280"/>
            <a:ext cx="13441680" cy="530352"/>
          </a:xfrm>
          <a:prstGeom prst="rect">
            <a:avLst/>
          </a:prstGeom>
          <a:noFill/>
        </p:spPr>
        <p:txBody>
          <a:bodyPr wrap="none" lIns="0" rIns="0" tIns="0" bIns="0" anchor="t">
            <a:noAutofit/>
          </a:bodyPr>
          <a:lstStyle/>
          <a:p>
            <a:pPr algn="l">
              <a:lnSpc>
                <a:spcPct val="110000"/>
              </a:lnSpc>
              <a:spcBef>
                <a:spcPts val="0"/>
              </a:spcBef>
              <a:spcAft>
                <a:spcPts val="0"/>
              </a:spcAft>
              <a:defRPr sz="2300" b="0">
                <a:solidFill>
                  <a:srgbClr val="4F5866"/>
                </a:solidFill>
                <a:latin typeface="Arial"/>
              </a:defRPr>
            </a:pPr>
            <a:r>
              <a:t>Recorded local evidence, 16 October 2026. It does not prove hosted or clinical readiness.</a:t>
            </a:r>
          </a:p>
        </p:txBody>
      </p:sp>
      <p:cxnSp>
        <p:nvCxnSpPr>
          <p:cNvPr id="4" name="Editable connector"/>
          <p:cNvCxnSpPr/>
          <p:nvPr/>
        </p:nvCxnSpPr>
        <p:spPr>
          <a:xfrm>
            <a:off x="548640" y="7818120"/>
            <a:ext cx="13533120" cy="0"/>
          </a:xfrm>
          <a:prstGeom prst="line">
            <a:avLst/>
          </a:prstGeom>
          <a:ln w="12700">
            <a:solidFill>
              <a:srgbClr val="D3D9D4"/>
            </a:solidFill>
          </a:ln>
          <a:effectLst/>
        </p:spPr>
        <p:style>
          <a:lnRef idx="2">
            <a:schemeClr val="accent1"/>
          </a:lnRef>
          <a:fillRef idx="0">
            <a:schemeClr val="accent1"/>
          </a:fillRef>
          <a:effectRef idx="0">
            <a:schemeClr val="accent1"/>
          </a:effectRef>
          <a:fontRef idx="minor">
            <a:schemeClr val="tx1"/>
          </a:fontRef>
        </p:style>
      </p:cxnSp>
      <p:sp>
        <p:nvSpPr>
          <p:cNvPr id="5" name="Simulated demo. Not medical advice."/>
          <p:cNvSpPr txBox="1"/>
          <p:nvPr/>
        </p:nvSpPr>
        <p:spPr>
          <a:xfrm>
            <a:off x="566928" y="7936992"/>
            <a:ext cx="10972800" cy="228600"/>
          </a:xfrm>
          <a:prstGeom prst="rect">
            <a:avLst/>
          </a:prstGeom>
          <a:noFill/>
        </p:spPr>
        <p:txBody>
          <a:bodyPr wrap="none" lIns="0" rIns="0" tIns="0" bIns="0" anchor="t">
            <a:noAutofit/>
          </a:bodyPr>
          <a:lstStyle/>
          <a:p>
            <a:pPr algn="l">
              <a:lnSpc>
                <a:spcPct val="110000"/>
              </a:lnSpc>
              <a:spcBef>
                <a:spcPts val="0"/>
              </a:spcBef>
              <a:spcAft>
                <a:spcPts val="0"/>
              </a:spcAft>
              <a:defRPr sz="1400" b="0">
                <a:solidFill>
                  <a:srgbClr val="4F5866"/>
                </a:solidFill>
                <a:latin typeface="Arial"/>
              </a:defRPr>
            </a:pPr>
            <a:r>
              <a:t>Simulated demo. Not medical advice.</a:t>
            </a:r>
          </a:p>
        </p:txBody>
      </p:sp>
      <p:sp>
        <p:nvSpPr>
          <p:cNvPr id="6" name="8"/>
          <p:cNvSpPr txBox="1"/>
          <p:nvPr/>
        </p:nvSpPr>
        <p:spPr>
          <a:xfrm>
            <a:off x="13487400" y="7936992"/>
            <a:ext cx="566928" cy="228600"/>
          </a:xfrm>
          <a:prstGeom prst="rect">
            <a:avLst/>
          </a:prstGeom>
          <a:noFill/>
        </p:spPr>
        <p:txBody>
          <a:bodyPr wrap="none" lIns="0" rIns="0" tIns="0" bIns="0" anchor="t">
            <a:noAutofit/>
          </a:bodyPr>
          <a:lstStyle/>
          <a:p>
            <a:pPr algn="r">
              <a:lnSpc>
                <a:spcPct val="110000"/>
              </a:lnSpc>
              <a:spcBef>
                <a:spcPts val="0"/>
              </a:spcBef>
              <a:spcAft>
                <a:spcPts val="0"/>
              </a:spcAft>
              <a:defRPr sz="1400" b="0">
                <a:solidFill>
                  <a:srgbClr val="4F5866"/>
                </a:solidFill>
                <a:latin typeface="Arial"/>
              </a:defRPr>
            </a:pPr>
            <a:r>
              <a:t>8</a:t>
            </a:r>
          </a:p>
        </p:txBody>
      </p:sp>
      <p:sp>
        <p:nvSpPr>
          <p:cNvPr id="7" name="2,296"/>
          <p:cNvSpPr txBox="1"/>
          <p:nvPr/>
        </p:nvSpPr>
        <p:spPr>
          <a:xfrm>
            <a:off x="640080" y="1874519"/>
            <a:ext cx="4114800" cy="850392"/>
          </a:xfrm>
          <a:prstGeom prst="rect">
            <a:avLst/>
          </a:prstGeom>
          <a:noFill/>
        </p:spPr>
        <p:txBody>
          <a:bodyPr wrap="none" lIns="0" rIns="0" tIns="0" bIns="0" anchor="t">
            <a:noAutofit/>
          </a:bodyPr>
          <a:lstStyle/>
          <a:p>
            <a:pPr algn="l">
              <a:lnSpc>
                <a:spcPct val="110000"/>
              </a:lnSpc>
              <a:spcBef>
                <a:spcPts val="0"/>
              </a:spcBef>
              <a:spcAft>
                <a:spcPts val="0"/>
              </a:spcAft>
              <a:defRPr sz="6100" b="1">
                <a:solidFill>
                  <a:srgbClr val="0D5E4F"/>
                </a:solidFill>
                <a:latin typeface="Arial"/>
              </a:defRPr>
            </a:pPr>
            <a:r>
              <a:t>2,296</a:t>
            </a:r>
          </a:p>
        </p:txBody>
      </p:sp>
      <p:sp>
        <p:nvSpPr>
          <p:cNvPr id="8" name="automated tests passed"/>
          <p:cNvSpPr txBox="1"/>
          <p:nvPr/>
        </p:nvSpPr>
        <p:spPr>
          <a:xfrm>
            <a:off x="676656" y="2862072"/>
            <a:ext cx="4114800" cy="457200"/>
          </a:xfrm>
          <a:prstGeom prst="rect">
            <a:avLst/>
          </a:prstGeom>
          <a:noFill/>
        </p:spPr>
        <p:txBody>
          <a:bodyPr wrap="none" lIns="0" rIns="0" tIns="0" bIns="0" anchor="t">
            <a:noAutofit/>
          </a:bodyPr>
          <a:lstStyle/>
          <a:p>
            <a:pPr algn="l">
              <a:lnSpc>
                <a:spcPct val="110000"/>
              </a:lnSpc>
              <a:spcBef>
                <a:spcPts val="0"/>
              </a:spcBef>
              <a:spcAft>
                <a:spcPts val="0"/>
              </a:spcAft>
              <a:defRPr sz="2500" b="0">
                <a:solidFill>
                  <a:srgbClr val="1B2230"/>
                </a:solidFill>
                <a:latin typeface="Arial"/>
              </a:defRPr>
            </a:pPr>
            <a:r>
              <a:t>automated tests passed</a:t>
            </a:r>
          </a:p>
        </p:txBody>
      </p:sp>
      <p:sp>
        <p:nvSpPr>
          <p:cNvPr id="9" name="233"/>
          <p:cNvSpPr txBox="1"/>
          <p:nvPr/>
        </p:nvSpPr>
        <p:spPr>
          <a:xfrm>
            <a:off x="5486400" y="1874519"/>
            <a:ext cx="3200400" cy="850392"/>
          </a:xfrm>
          <a:prstGeom prst="rect">
            <a:avLst/>
          </a:prstGeom>
          <a:noFill/>
        </p:spPr>
        <p:txBody>
          <a:bodyPr wrap="none" lIns="0" rIns="0" tIns="0" bIns="0" anchor="t">
            <a:noAutofit/>
          </a:bodyPr>
          <a:lstStyle/>
          <a:p>
            <a:pPr algn="l">
              <a:lnSpc>
                <a:spcPct val="110000"/>
              </a:lnSpc>
              <a:spcBef>
                <a:spcPts val="0"/>
              </a:spcBef>
              <a:spcAft>
                <a:spcPts val="0"/>
              </a:spcAft>
              <a:defRPr sz="6100" b="1">
                <a:solidFill>
                  <a:srgbClr val="4F5866"/>
                </a:solidFill>
                <a:latin typeface="Arial"/>
              </a:defRPr>
            </a:pPr>
            <a:r>
              <a:t>233</a:t>
            </a:r>
          </a:p>
        </p:txBody>
      </p:sp>
      <p:sp>
        <p:nvSpPr>
          <p:cNvPr id="10" name="tests skipped"/>
          <p:cNvSpPr txBox="1"/>
          <p:nvPr/>
        </p:nvSpPr>
        <p:spPr>
          <a:xfrm>
            <a:off x="5522976" y="2862072"/>
            <a:ext cx="3200400" cy="457200"/>
          </a:xfrm>
          <a:prstGeom prst="rect">
            <a:avLst/>
          </a:prstGeom>
          <a:noFill/>
        </p:spPr>
        <p:txBody>
          <a:bodyPr wrap="none" lIns="0" rIns="0" tIns="0" bIns="0" anchor="t">
            <a:noAutofit/>
          </a:bodyPr>
          <a:lstStyle/>
          <a:p>
            <a:pPr algn="l">
              <a:lnSpc>
                <a:spcPct val="110000"/>
              </a:lnSpc>
              <a:spcBef>
                <a:spcPts val="0"/>
              </a:spcBef>
              <a:spcAft>
                <a:spcPts val="0"/>
              </a:spcAft>
              <a:defRPr sz="2500" b="0">
                <a:solidFill>
                  <a:srgbClr val="1B2230"/>
                </a:solidFill>
                <a:latin typeface="Arial"/>
              </a:defRPr>
            </a:pPr>
            <a:r>
              <a:t>tests skipped</a:t>
            </a:r>
          </a:p>
        </p:txBody>
      </p:sp>
      <p:sp>
        <p:nvSpPr>
          <p:cNvPr id="11" name="27 / 27"/>
          <p:cNvSpPr txBox="1"/>
          <p:nvPr/>
        </p:nvSpPr>
        <p:spPr>
          <a:xfrm>
            <a:off x="9692640" y="1874519"/>
            <a:ext cx="4114800" cy="850392"/>
          </a:xfrm>
          <a:prstGeom prst="rect">
            <a:avLst/>
          </a:prstGeom>
          <a:noFill/>
        </p:spPr>
        <p:txBody>
          <a:bodyPr wrap="none" lIns="0" rIns="0" tIns="0" bIns="0" anchor="t">
            <a:noAutofit/>
          </a:bodyPr>
          <a:lstStyle/>
          <a:p>
            <a:pPr algn="l">
              <a:lnSpc>
                <a:spcPct val="110000"/>
              </a:lnSpc>
              <a:spcBef>
                <a:spcPts val="0"/>
              </a:spcBef>
              <a:spcAft>
                <a:spcPts val="0"/>
              </a:spcAft>
              <a:defRPr sz="6100" b="1">
                <a:solidFill>
                  <a:srgbClr val="0D5E4F"/>
                </a:solidFill>
                <a:latin typeface="Arial"/>
              </a:defRPr>
            </a:pPr>
            <a:r>
              <a:t>27 / 27</a:t>
            </a:r>
          </a:p>
        </p:txBody>
      </p:sp>
      <p:sp>
        <p:nvSpPr>
          <p:cNvPr id="12" name="Slice 24 guard mutations detected"/>
          <p:cNvSpPr txBox="1"/>
          <p:nvPr/>
        </p:nvSpPr>
        <p:spPr>
          <a:xfrm>
            <a:off x="9729216" y="2862072"/>
            <a:ext cx="4297680" cy="758952"/>
          </a:xfrm>
          <a:prstGeom prst="rect">
            <a:avLst/>
          </a:prstGeom>
          <a:noFill/>
        </p:spPr>
        <p:txBody>
          <a:bodyPr wrap="none" lIns="0" rIns="0" tIns="0" bIns="0" anchor="t">
            <a:noAutofit/>
          </a:bodyPr>
          <a:lstStyle/>
          <a:p>
            <a:pPr algn="l">
              <a:lnSpc>
                <a:spcPct val="110000"/>
              </a:lnSpc>
              <a:spcBef>
                <a:spcPts val="0"/>
              </a:spcBef>
              <a:spcAft>
                <a:spcPts val="0"/>
              </a:spcAft>
              <a:defRPr sz="2300" b="0">
                <a:solidFill>
                  <a:srgbClr val="1B2230"/>
                </a:solidFill>
                <a:latin typeface="Arial"/>
              </a:defRPr>
            </a:pPr>
            <a:r>
              <a:t>Slice 24 guard mutations</a:t>
            </a:r>
          </a:p>
          <a:p>
            <a:pPr algn="l">
              <a:lnSpc>
                <a:spcPct val="110000"/>
              </a:lnSpc>
              <a:spcBef>
                <a:spcPts val="0"/>
              </a:spcBef>
              <a:spcAft>
                <a:spcPts val="0"/>
              </a:spcAft>
              <a:defRPr sz="2300" b="0">
                <a:solidFill>
                  <a:srgbClr val="1B2230"/>
                </a:solidFill>
                <a:latin typeface="Arial"/>
              </a:defRPr>
            </a:pPr>
            <a:r>
              <a:t>detected</a:t>
            </a:r>
          </a:p>
        </p:txBody>
      </p:sp>
      <p:cxnSp>
        <p:nvCxnSpPr>
          <p:cNvPr id="13" name="Editable connector"/>
          <p:cNvCxnSpPr/>
          <p:nvPr/>
        </p:nvCxnSpPr>
        <p:spPr>
          <a:xfrm>
            <a:off x="594360" y="3822191"/>
            <a:ext cx="13441680" cy="0"/>
          </a:xfrm>
          <a:prstGeom prst="line">
            <a:avLst/>
          </a:prstGeom>
          <a:ln w="12700">
            <a:solidFill>
              <a:srgbClr val="D3D9D4"/>
            </a:solidFill>
          </a:ln>
          <a:effectLst/>
        </p:spPr>
        <p:style>
          <a:lnRef idx="2">
            <a:schemeClr val="accent1"/>
          </a:lnRef>
          <a:fillRef idx="0">
            <a:schemeClr val="accent1"/>
          </a:fillRef>
          <a:effectRef idx="0">
            <a:schemeClr val="accent1"/>
          </a:effectRef>
          <a:fontRef idx="minor">
            <a:schemeClr val="tx1"/>
          </a:fontRef>
        </p:style>
      </p:cxnSp>
      <p:sp>
        <p:nvSpPr>
          <p:cNvPr id="14" name="Supporting proof"/>
          <p:cNvSpPr txBox="1"/>
          <p:nvPr/>
        </p:nvSpPr>
        <p:spPr>
          <a:xfrm>
            <a:off x="658368" y="4114800"/>
            <a:ext cx="6035040" cy="502920"/>
          </a:xfrm>
          <a:prstGeom prst="rect">
            <a:avLst/>
          </a:prstGeom>
          <a:noFill/>
        </p:spPr>
        <p:txBody>
          <a:bodyPr wrap="none" lIns="0" rIns="0" tIns="0" bIns="0" anchor="t">
            <a:noAutofit/>
          </a:bodyPr>
          <a:lstStyle/>
          <a:p>
            <a:pPr algn="l">
              <a:lnSpc>
                <a:spcPct val="110000"/>
              </a:lnSpc>
              <a:spcBef>
                <a:spcPts val="0"/>
              </a:spcBef>
              <a:spcAft>
                <a:spcPts val="0"/>
              </a:spcAft>
              <a:defRPr sz="2900" b="1">
                <a:solidFill>
                  <a:srgbClr val="0D5E4F"/>
                </a:solidFill>
                <a:latin typeface="Arial"/>
              </a:defRPr>
            </a:pPr>
            <a:r>
              <a:t>Supporting proof</a:t>
            </a:r>
          </a:p>
        </p:txBody>
      </p:sp>
      <p:sp>
        <p:nvSpPr>
          <p:cNvPr id="15" name="Guard mutations expose broken guards.&#10;Leak scans includ"/>
          <p:cNvSpPr txBox="1"/>
          <p:nvPr/>
        </p:nvSpPr>
        <p:spPr>
          <a:xfrm>
            <a:off x="676656" y="4864608"/>
            <a:ext cx="5943600" cy="1956816"/>
          </a:xfrm>
          <a:prstGeom prst="rect">
            <a:avLst/>
          </a:prstGeom>
          <a:noFill/>
        </p:spPr>
        <p:txBody>
          <a:bodyPr wrap="none" lIns="0" rIns="0" tIns="0" bIns="0" anchor="t">
            <a:noAutofit/>
          </a:bodyPr>
          <a:lstStyle/>
          <a:p>
            <a:pPr algn="l">
              <a:lnSpc>
                <a:spcPct val="110000"/>
              </a:lnSpc>
              <a:spcBef>
                <a:spcPts val="0"/>
              </a:spcBef>
              <a:spcAft>
                <a:spcPts val="0"/>
              </a:spcAft>
              <a:defRPr sz="2500" b="0">
                <a:solidFill>
                  <a:srgbClr val="1B2230"/>
                </a:solidFill>
                <a:latin typeface="Arial"/>
              </a:defRPr>
            </a:pPr>
            <a:r>
              <a:t>Guard mutations expose broken</a:t>
            </a:r>
          </a:p>
          <a:p>
            <a:pPr algn="l">
              <a:lnSpc>
                <a:spcPct val="110000"/>
              </a:lnSpc>
              <a:spcBef>
                <a:spcPts val="0"/>
              </a:spcBef>
              <a:spcAft>
                <a:spcPts val="0"/>
              </a:spcAft>
              <a:defRPr sz="2500" b="0">
                <a:solidFill>
                  <a:srgbClr val="1B2230"/>
                </a:solidFill>
                <a:latin typeface="Arial"/>
              </a:defRPr>
            </a:pPr>
            <a:r>
              <a:t>guards.</a:t>
            </a:r>
          </a:p>
          <a:p>
            <a:pPr algn="l">
              <a:lnSpc>
                <a:spcPct val="110000"/>
              </a:lnSpc>
              <a:spcBef>
                <a:spcPts val="0"/>
              </a:spcBef>
              <a:spcAft>
                <a:spcPts val="0"/>
              </a:spcAft>
              <a:defRPr sz="2500" b="0">
                <a:solidFill>
                  <a:srgbClr val="1B2230"/>
                </a:solidFill>
                <a:latin typeface="Arial"/>
              </a:defRPr>
            </a:pPr>
            <a:r>
              <a:t>Leak scans include planted controls.</a:t>
            </a:r>
          </a:p>
          <a:p>
            <a:pPr algn="l">
              <a:lnSpc>
                <a:spcPct val="110000"/>
              </a:lnSpc>
              <a:spcBef>
                <a:spcPts val="0"/>
              </a:spcBef>
              <a:spcAft>
                <a:spcPts val="0"/>
              </a:spcAft>
              <a:defRPr sz="2500" b="0">
                <a:solidFill>
                  <a:srgbClr val="1B2230"/>
                </a:solidFill>
                <a:latin typeface="Arial"/>
              </a:defRPr>
            </a:pPr>
            <a:r>
              <a:t>A local product run saw a committed</a:t>
            </a:r>
          </a:p>
          <a:p>
            <a:pPr algn="l">
              <a:lnSpc>
                <a:spcPct val="110000"/>
              </a:lnSpc>
              <a:spcBef>
                <a:spcPts val="0"/>
              </a:spcBef>
              <a:spcAft>
                <a:spcPts val="0"/>
              </a:spcAft>
              <a:defRPr sz="2500" b="0">
                <a:solidFill>
                  <a:srgbClr val="1B2230"/>
                </a:solidFill>
                <a:latin typeface="Arial"/>
              </a:defRPr>
            </a:pPr>
            <a:r>
              <a:t>reservation before the stub socket.</a:t>
            </a:r>
          </a:p>
        </p:txBody>
      </p:sp>
      <p:sp>
        <p:nvSpPr>
          <p:cNvPr id="16" name="Limits that remain"/>
          <p:cNvSpPr txBox="1"/>
          <p:nvPr/>
        </p:nvSpPr>
        <p:spPr>
          <a:xfrm>
            <a:off x="7452360" y="4114800"/>
            <a:ext cx="6492240" cy="502920"/>
          </a:xfrm>
          <a:prstGeom prst="rect">
            <a:avLst/>
          </a:prstGeom>
          <a:noFill/>
        </p:spPr>
        <p:txBody>
          <a:bodyPr wrap="none" lIns="0" rIns="0" tIns="0" bIns="0" anchor="t">
            <a:noAutofit/>
          </a:bodyPr>
          <a:lstStyle/>
          <a:p>
            <a:pPr algn="l">
              <a:lnSpc>
                <a:spcPct val="110000"/>
              </a:lnSpc>
              <a:spcBef>
                <a:spcPts val="0"/>
              </a:spcBef>
              <a:spcAft>
                <a:spcPts val="0"/>
              </a:spcAft>
              <a:defRPr sz="2900" b="1">
                <a:solidFill>
                  <a:srgbClr val="B3261E"/>
                </a:solidFill>
                <a:latin typeface="Arial"/>
              </a:defRPr>
            </a:pPr>
            <a:r>
              <a:t>Limits that remain</a:t>
            </a:r>
          </a:p>
        </p:txBody>
      </p:sp>
      <p:sp>
        <p:nvSpPr>
          <p:cNvPr id="17" name="No clinical review. One persona.&#10;No fairness testing ac"/>
          <p:cNvSpPr txBox="1"/>
          <p:nvPr/>
        </p:nvSpPr>
        <p:spPr>
          <a:xfrm>
            <a:off x="7470648" y="4837176"/>
            <a:ext cx="6446520" cy="2066543"/>
          </a:xfrm>
          <a:prstGeom prst="rect">
            <a:avLst/>
          </a:prstGeom>
          <a:noFill/>
        </p:spPr>
        <p:txBody>
          <a:bodyPr wrap="none" lIns="0" rIns="0" tIns="0" bIns="0" anchor="t">
            <a:noAutofit/>
          </a:bodyPr>
          <a:lstStyle/>
          <a:p>
            <a:pPr algn="l">
              <a:lnSpc>
                <a:spcPct val="110000"/>
              </a:lnSpc>
              <a:spcBef>
                <a:spcPts val="0"/>
              </a:spcBef>
              <a:spcAft>
                <a:spcPts val="0"/>
              </a:spcAft>
              <a:defRPr sz="2400" b="0">
                <a:solidFill>
                  <a:srgbClr val="1B2230"/>
                </a:solidFill>
                <a:latin typeface="Arial"/>
              </a:defRPr>
            </a:pPr>
            <a:r>
              <a:t>No clinical review. One persona.</a:t>
            </a:r>
          </a:p>
          <a:p>
            <a:pPr algn="l">
              <a:lnSpc>
                <a:spcPct val="110000"/>
              </a:lnSpc>
              <a:spcBef>
                <a:spcPts val="0"/>
              </a:spcBef>
              <a:spcAft>
                <a:spcPts val="0"/>
              </a:spcAft>
              <a:defRPr sz="2400" b="0">
                <a:solidFill>
                  <a:srgbClr val="1B2230"/>
                </a:solidFill>
                <a:latin typeface="Arial"/>
              </a:defRPr>
            </a:pPr>
            <a:r>
              <a:t>No fairness testing across subgroups.</a:t>
            </a:r>
          </a:p>
          <a:p>
            <a:pPr algn="l">
              <a:lnSpc>
                <a:spcPct val="110000"/>
              </a:lnSpc>
              <a:spcBef>
                <a:spcPts val="0"/>
              </a:spcBef>
              <a:spcAft>
                <a:spcPts val="0"/>
              </a:spcAft>
              <a:defRPr sz="2400" b="0">
                <a:solidFill>
                  <a:srgbClr val="1B2230"/>
                </a:solidFill>
                <a:latin typeface="Arial"/>
              </a:defRPr>
            </a:pPr>
            <a:r>
              <a:t>Postgres guard path and race unproven.</a:t>
            </a:r>
          </a:p>
          <a:p>
            <a:pPr algn="l">
              <a:lnSpc>
                <a:spcPct val="110000"/>
              </a:lnSpc>
              <a:spcBef>
                <a:spcPts val="0"/>
              </a:spcBef>
              <a:spcAft>
                <a:spcPts val="0"/>
              </a:spcAft>
              <a:defRPr sz="2400" b="0">
                <a:solidFill>
                  <a:srgbClr val="1B2230"/>
                </a:solidFill>
                <a:latin typeface="Arial"/>
              </a:defRPr>
            </a:pPr>
            <a:r>
              <a:t>Tencent region and retention [unknown].</a:t>
            </a:r>
          </a:p>
          <a:p>
            <a:pPr algn="l">
              <a:lnSpc>
                <a:spcPct val="110000"/>
              </a:lnSpc>
              <a:spcBef>
                <a:spcPts val="0"/>
              </a:spcBef>
              <a:spcAft>
                <a:spcPts val="0"/>
              </a:spcAft>
              <a:defRPr sz="2400" b="0">
                <a:solidFill>
                  <a:srgbClr val="1B2230"/>
                </a:solidFill>
                <a:latin typeface="Arial"/>
              </a:defRPr>
            </a:pPr>
            <a:r>
              <a:t>Hosted guard activation [unknown].</a:t>
            </a:r>
          </a:p>
        </p:txBody>
      </p:sp>
      <p:sp>
        <p:nvSpPr>
          <p:cNvPr id="18" name="Security limit: credential-bearing Git history is discl"/>
          <p:cNvSpPr txBox="1"/>
          <p:nvPr/>
        </p:nvSpPr>
        <p:spPr>
          <a:xfrm>
            <a:off x="667512" y="7269480"/>
            <a:ext cx="13304520" cy="384048"/>
          </a:xfrm>
          <a:prstGeom prst="rect">
            <a:avLst/>
          </a:prstGeom>
          <a:noFill/>
        </p:spPr>
        <p:txBody>
          <a:bodyPr wrap="none" lIns="0" rIns="0" tIns="0" bIns="0" anchor="t">
            <a:noAutofit/>
          </a:bodyPr>
          <a:lstStyle/>
          <a:p>
            <a:pPr algn="l">
              <a:lnSpc>
                <a:spcPct val="110000"/>
              </a:lnSpc>
              <a:spcBef>
                <a:spcPts val="0"/>
              </a:spcBef>
              <a:spcAft>
                <a:spcPts val="0"/>
              </a:spcAft>
              <a:defRPr sz="2000" b="0">
                <a:solidFill>
                  <a:srgbClr val="B3261E"/>
                </a:solidFill>
                <a:latin typeface="Arial"/>
              </a:defRPr>
            </a:pPr>
            <a:r>
              <a:t>Security limit: credential-bearing Git history is disclosed. Rotation is not verified.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5F2"/>
        </a:solidFill>
        <a:effectLst/>
      </p:bgPr>
    </p:bg>
    <p:spTree>
      <p:nvGrpSpPr>
        <p:cNvPr id="1" name=""/>
        <p:cNvGrpSpPr/>
        <p:nvPr/>
      </p:nvGrpSpPr>
      <p:grpSpPr/>
      <p:sp>
        <p:nvSpPr>
          <p:cNvPr id="2" name="Slide title"/>
          <p:cNvSpPr txBox="1"/>
          <p:nvPr/>
        </p:nvSpPr>
        <p:spPr>
          <a:xfrm>
            <a:off x="548640" y="384048"/>
            <a:ext cx="13533120" cy="621792"/>
          </a:xfrm>
          <a:prstGeom prst="rect">
            <a:avLst/>
          </a:prstGeom>
          <a:noFill/>
        </p:spPr>
        <p:txBody>
          <a:bodyPr wrap="none" lIns="0" rIns="0" tIns="0" bIns="0" anchor="t">
            <a:noAutofit/>
          </a:bodyPr>
          <a:lstStyle/>
          <a:p>
            <a:pPr algn="l">
              <a:lnSpc>
                <a:spcPct val="110000"/>
              </a:lnSpc>
              <a:spcBef>
                <a:spcPts val="0"/>
              </a:spcBef>
              <a:spcAft>
                <a:spcPts val="0"/>
              </a:spcAft>
              <a:defRPr sz="4000" b="1">
                <a:solidFill>
                  <a:srgbClr val="1B2230"/>
                </a:solidFill>
                <a:latin typeface="Arial"/>
              </a:defRPr>
            </a:pPr>
            <a:r>
              <a:t>One demo run and the judge stage</a:t>
            </a:r>
          </a:p>
        </p:txBody>
      </p:sp>
      <p:sp>
        <p:nvSpPr>
          <p:cNvPr id="3" name="/demo/stage frames /patient. Its read-only panel reads "/>
          <p:cNvSpPr txBox="1"/>
          <p:nvPr/>
        </p:nvSpPr>
        <p:spPr>
          <a:xfrm>
            <a:off x="566928" y="1097280"/>
            <a:ext cx="13441680" cy="530352"/>
          </a:xfrm>
          <a:prstGeom prst="rect">
            <a:avLst/>
          </a:prstGeom>
          <a:noFill/>
        </p:spPr>
        <p:txBody>
          <a:bodyPr wrap="none" lIns="0" rIns="0" tIns="0" bIns="0" anchor="t">
            <a:noAutofit/>
          </a:bodyPr>
          <a:lstStyle/>
          <a:p>
            <a:pPr algn="l">
              <a:lnSpc>
                <a:spcPct val="110000"/>
              </a:lnSpc>
              <a:spcBef>
                <a:spcPts val="0"/>
              </a:spcBef>
              <a:spcAft>
                <a:spcPts val="0"/>
              </a:spcAft>
              <a:defRPr sz="2300" b="0">
                <a:solidFill>
                  <a:srgbClr val="4F5866"/>
                </a:solidFill>
                <a:latin typeface="Arial"/>
              </a:defRPr>
            </a:pPr>
            <a:r>
              <a:t>/demo/stage frames /patient. Its read-only panel reads the ledger for the current episode.</a:t>
            </a:r>
          </a:p>
        </p:txBody>
      </p:sp>
      <p:cxnSp>
        <p:nvCxnSpPr>
          <p:cNvPr id="4" name="Editable connector"/>
          <p:cNvCxnSpPr/>
          <p:nvPr/>
        </p:nvCxnSpPr>
        <p:spPr>
          <a:xfrm>
            <a:off x="548640" y="7818120"/>
            <a:ext cx="13533120" cy="0"/>
          </a:xfrm>
          <a:prstGeom prst="line">
            <a:avLst/>
          </a:prstGeom>
          <a:ln w="12700">
            <a:solidFill>
              <a:srgbClr val="D3D9D4"/>
            </a:solidFill>
          </a:ln>
          <a:effectLst/>
        </p:spPr>
        <p:style>
          <a:lnRef idx="2">
            <a:schemeClr val="accent1"/>
          </a:lnRef>
          <a:fillRef idx="0">
            <a:schemeClr val="accent1"/>
          </a:fillRef>
          <a:effectRef idx="0">
            <a:schemeClr val="accent1"/>
          </a:effectRef>
          <a:fontRef idx="minor">
            <a:schemeClr val="tx1"/>
          </a:fontRef>
        </p:style>
      </p:cxnSp>
      <p:sp>
        <p:nvSpPr>
          <p:cNvPr id="5" name="Simulated demo. Not medical advice."/>
          <p:cNvSpPr txBox="1"/>
          <p:nvPr/>
        </p:nvSpPr>
        <p:spPr>
          <a:xfrm>
            <a:off x="566928" y="7936992"/>
            <a:ext cx="10972800" cy="228600"/>
          </a:xfrm>
          <a:prstGeom prst="rect">
            <a:avLst/>
          </a:prstGeom>
          <a:noFill/>
        </p:spPr>
        <p:txBody>
          <a:bodyPr wrap="none" lIns="0" rIns="0" tIns="0" bIns="0" anchor="t">
            <a:noAutofit/>
          </a:bodyPr>
          <a:lstStyle/>
          <a:p>
            <a:pPr algn="l">
              <a:lnSpc>
                <a:spcPct val="110000"/>
              </a:lnSpc>
              <a:spcBef>
                <a:spcPts val="0"/>
              </a:spcBef>
              <a:spcAft>
                <a:spcPts val="0"/>
              </a:spcAft>
              <a:defRPr sz="1400" b="0">
                <a:solidFill>
                  <a:srgbClr val="4F5866"/>
                </a:solidFill>
                <a:latin typeface="Arial"/>
              </a:defRPr>
            </a:pPr>
            <a:r>
              <a:t>Simulated demo. Not medical advice.</a:t>
            </a:r>
          </a:p>
        </p:txBody>
      </p:sp>
      <p:sp>
        <p:nvSpPr>
          <p:cNvPr id="6" name="9"/>
          <p:cNvSpPr txBox="1"/>
          <p:nvPr/>
        </p:nvSpPr>
        <p:spPr>
          <a:xfrm>
            <a:off x="13487400" y="7936992"/>
            <a:ext cx="566928" cy="228600"/>
          </a:xfrm>
          <a:prstGeom prst="rect">
            <a:avLst/>
          </a:prstGeom>
          <a:noFill/>
        </p:spPr>
        <p:txBody>
          <a:bodyPr wrap="none" lIns="0" rIns="0" tIns="0" bIns="0" anchor="t">
            <a:noAutofit/>
          </a:bodyPr>
          <a:lstStyle/>
          <a:p>
            <a:pPr algn="r">
              <a:lnSpc>
                <a:spcPct val="110000"/>
              </a:lnSpc>
              <a:spcBef>
                <a:spcPts val="0"/>
              </a:spcBef>
              <a:spcAft>
                <a:spcPts val="0"/>
              </a:spcAft>
              <a:defRPr sz="1400" b="0">
                <a:solidFill>
                  <a:srgbClr val="4F5866"/>
                </a:solidFill>
                <a:latin typeface="Arial"/>
              </a:defRPr>
            </a:pPr>
            <a:r>
              <a:t>9</a:t>
            </a:r>
          </a:p>
        </p:txBody>
      </p:sp>
      <p:cxnSp>
        <p:nvCxnSpPr>
          <p:cNvPr id="7" name="Editable connector"/>
          <p:cNvCxnSpPr/>
          <p:nvPr/>
        </p:nvCxnSpPr>
        <p:spPr>
          <a:xfrm>
            <a:off x="3566160" y="2743200"/>
            <a:ext cx="429768" cy="0"/>
          </a:xfrm>
          <a:prstGeom prst="line">
            <a:avLst/>
          </a:prstGeom>
          <a:ln w="21590">
            <a:solidFill>
              <a:srgbClr val="1B223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8" name="Editable connector"/>
          <p:cNvCxnSpPr/>
          <p:nvPr/>
        </p:nvCxnSpPr>
        <p:spPr>
          <a:xfrm>
            <a:off x="7013448" y="2743200"/>
            <a:ext cx="429768" cy="0"/>
          </a:xfrm>
          <a:prstGeom prst="line">
            <a:avLst/>
          </a:prstGeom>
          <a:ln w="21590">
            <a:solidFill>
              <a:srgbClr val="1B223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9" name="Editable connector"/>
          <p:cNvCxnSpPr/>
          <p:nvPr/>
        </p:nvCxnSpPr>
        <p:spPr>
          <a:xfrm>
            <a:off x="10460736" y="2743200"/>
            <a:ext cx="429768" cy="0"/>
          </a:xfrm>
          <a:prstGeom prst="line">
            <a:avLst/>
          </a:prstGeom>
          <a:ln w="21590">
            <a:solidFill>
              <a:srgbClr val="1B223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0" name="Editable connector"/>
          <p:cNvCxnSpPr/>
          <p:nvPr/>
        </p:nvCxnSpPr>
        <p:spPr>
          <a:xfrm>
            <a:off x="13908024" y="2743200"/>
            <a:ext cx="283464" cy="0"/>
          </a:xfrm>
          <a:prstGeom prst="line">
            <a:avLst/>
          </a:prstGeom>
          <a:ln w="21590">
            <a:solidFill>
              <a:srgbClr val="1B2230"/>
            </a:solidFill>
          </a:ln>
          <a:effectLst/>
        </p:spPr>
        <p:style>
          <a:lnRef idx="2">
            <a:schemeClr val="accent1"/>
          </a:lnRef>
          <a:fillRef idx="0">
            <a:schemeClr val="accent1"/>
          </a:fillRef>
          <a:effectRef idx="0">
            <a:schemeClr val="accent1"/>
          </a:effectRef>
          <a:fontRef idx="minor">
            <a:schemeClr val="tx1"/>
          </a:fontRef>
        </p:style>
      </p:cxnSp>
      <p:cxnSp>
        <p:nvCxnSpPr>
          <p:cNvPr id="11" name="Editable connector"/>
          <p:cNvCxnSpPr/>
          <p:nvPr/>
        </p:nvCxnSpPr>
        <p:spPr>
          <a:xfrm>
            <a:off x="14191488" y="2743200"/>
            <a:ext cx="0" cy="3227832"/>
          </a:xfrm>
          <a:prstGeom prst="line">
            <a:avLst/>
          </a:prstGeom>
          <a:ln w="21590">
            <a:solidFill>
              <a:srgbClr val="1B2230"/>
            </a:solidFill>
          </a:ln>
          <a:effectLst/>
        </p:spPr>
        <p:style>
          <a:lnRef idx="2">
            <a:schemeClr val="accent1"/>
          </a:lnRef>
          <a:fillRef idx="0">
            <a:schemeClr val="accent1"/>
          </a:fillRef>
          <a:effectRef idx="0">
            <a:schemeClr val="accent1"/>
          </a:effectRef>
          <a:fontRef idx="minor">
            <a:schemeClr val="tx1"/>
          </a:fontRef>
        </p:style>
      </p:cxnSp>
      <p:cxnSp>
        <p:nvCxnSpPr>
          <p:cNvPr id="12" name="Editable connector"/>
          <p:cNvCxnSpPr/>
          <p:nvPr/>
        </p:nvCxnSpPr>
        <p:spPr>
          <a:xfrm flipH="1">
            <a:off x="13908024" y="5971032"/>
            <a:ext cx="283464" cy="0"/>
          </a:xfrm>
          <a:prstGeom prst="line">
            <a:avLst/>
          </a:prstGeom>
          <a:ln w="21590">
            <a:solidFill>
              <a:srgbClr val="1B223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3" name="Editable connector"/>
          <p:cNvCxnSpPr/>
          <p:nvPr/>
        </p:nvCxnSpPr>
        <p:spPr>
          <a:xfrm flipH="1">
            <a:off x="10460736" y="5971032"/>
            <a:ext cx="429768" cy="0"/>
          </a:xfrm>
          <a:prstGeom prst="line">
            <a:avLst/>
          </a:prstGeom>
          <a:ln w="21590">
            <a:solidFill>
              <a:srgbClr val="1B223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4" name="Editable connector"/>
          <p:cNvCxnSpPr/>
          <p:nvPr/>
        </p:nvCxnSpPr>
        <p:spPr>
          <a:xfrm flipH="1">
            <a:off x="7013448" y="5971032"/>
            <a:ext cx="429768" cy="0"/>
          </a:xfrm>
          <a:prstGeom prst="line">
            <a:avLst/>
          </a:prstGeom>
          <a:ln w="21590">
            <a:solidFill>
              <a:srgbClr val="1B223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5" name="Editable connector"/>
          <p:cNvCxnSpPr/>
          <p:nvPr/>
        </p:nvCxnSpPr>
        <p:spPr>
          <a:xfrm flipH="1">
            <a:off x="3566160" y="5971032"/>
            <a:ext cx="429768" cy="0"/>
          </a:xfrm>
          <a:prstGeom prst="line">
            <a:avLst/>
          </a:prstGeom>
          <a:ln w="21590">
            <a:solidFill>
              <a:srgbClr val="1B2230"/>
            </a:solidFill>
            <a:tailEnd type="triangle"/>
          </a:ln>
          <a:effectLst/>
        </p:spPr>
        <p:style>
          <a:lnRef idx="2">
            <a:schemeClr val="accent1"/>
          </a:lnRef>
          <a:fillRef idx="0">
            <a:schemeClr val="accent1"/>
          </a:fillRef>
          <a:effectRef idx="0">
            <a:schemeClr val="accent1"/>
          </a:effectRef>
          <a:fontRef idx="minor">
            <a:schemeClr val="tx1"/>
          </a:fontRef>
        </p:style>
      </p:cxnSp>
      <p:sp>
        <p:nvSpPr>
          <p:cNvPr id="16" name="1  Safety check"/>
          <p:cNvSpPr/>
          <p:nvPr/>
        </p:nvSpPr>
        <p:spPr>
          <a:xfrm>
            <a:off x="548640" y="1901952"/>
            <a:ext cx="3017520" cy="1975104"/>
          </a:xfrm>
          <a:prstGeom prst="rect">
            <a:avLst/>
          </a:prstGeom>
          <a:solidFill>
            <a:srgbClr val="FBE5E3"/>
          </a:solidFill>
          <a:ln w="19050">
            <a:solidFill>
              <a:srgbClr val="B32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1  Safety check"/>
          <p:cNvSpPr txBox="1"/>
          <p:nvPr/>
        </p:nvSpPr>
        <p:spPr>
          <a:xfrm>
            <a:off x="731520" y="2048256"/>
            <a:ext cx="2651760" cy="377952"/>
          </a:xfrm>
          <a:prstGeom prst="rect">
            <a:avLst/>
          </a:prstGeom>
          <a:noFill/>
        </p:spPr>
        <p:txBody>
          <a:bodyPr wrap="none" lIns="0" rIns="0" tIns="0" bIns="0" anchor="t">
            <a:noAutofit/>
          </a:bodyPr>
          <a:lstStyle/>
          <a:p>
            <a:pPr algn="l">
              <a:lnSpc>
                <a:spcPct val="110000"/>
              </a:lnSpc>
              <a:spcBef>
                <a:spcPts val="0"/>
              </a:spcBef>
              <a:spcAft>
                <a:spcPts val="0"/>
              </a:spcAft>
              <a:defRPr sz="2400" b="1">
                <a:solidFill>
                  <a:srgbClr val="B3261E"/>
                </a:solidFill>
                <a:latin typeface="Arial"/>
              </a:defRPr>
            </a:pPr>
            <a:r>
              <a:t>1 Safety check</a:t>
            </a:r>
          </a:p>
        </p:txBody>
      </p:sp>
      <p:sp>
        <p:nvSpPr>
          <p:cNvPr id="18" name="Local answers only.&#10;No judge-panel trace."/>
          <p:cNvSpPr txBox="1"/>
          <p:nvPr/>
        </p:nvSpPr>
        <p:spPr>
          <a:xfrm>
            <a:off x="731520" y="2590800"/>
            <a:ext cx="2651760" cy="1176528"/>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Local answers only.</a:t>
            </a:r>
          </a:p>
          <a:p>
            <a:pPr algn="l">
              <a:lnSpc>
                <a:spcPct val="110000"/>
              </a:lnSpc>
              <a:spcBef>
                <a:spcPts val="0"/>
              </a:spcBef>
              <a:spcAft>
                <a:spcPts val="0"/>
              </a:spcAft>
              <a:defRPr sz="2200" b="0">
                <a:solidFill>
                  <a:srgbClr val="1B2230"/>
                </a:solidFill>
                <a:latin typeface="Arial"/>
              </a:defRPr>
            </a:pPr>
            <a:r>
              <a:t>No judge-panel</a:t>
            </a:r>
          </a:p>
          <a:p>
            <a:pPr algn="l">
              <a:lnSpc>
                <a:spcPct val="110000"/>
              </a:lnSpc>
              <a:spcBef>
                <a:spcPts val="0"/>
              </a:spcBef>
              <a:spcAft>
                <a:spcPts val="0"/>
              </a:spcAft>
              <a:defRPr sz="2200" b="0">
                <a:solidFill>
                  <a:srgbClr val="1B2230"/>
                </a:solidFill>
                <a:latin typeface="Arial"/>
              </a:defRPr>
            </a:pPr>
            <a:r>
              <a:t>trace.</a:t>
            </a:r>
          </a:p>
        </p:txBody>
      </p:sp>
      <p:sp>
        <p:nvSpPr>
          <p:cNvPr id="19" name="2  Plan"/>
          <p:cNvSpPr/>
          <p:nvPr/>
        </p:nvSpPr>
        <p:spPr>
          <a:xfrm>
            <a:off x="3995928" y="1901952"/>
            <a:ext cx="3017520" cy="1975104"/>
          </a:xfrm>
          <a:prstGeom prst="rect">
            <a:avLst/>
          </a:prstGeom>
          <a:solidFill>
            <a:srgbClr val="DCEFE9"/>
          </a:solidFill>
          <a:ln w="19050">
            <a:solidFill>
              <a:srgbClr val="0D5E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2  Plan"/>
          <p:cNvSpPr txBox="1"/>
          <p:nvPr/>
        </p:nvSpPr>
        <p:spPr>
          <a:xfrm>
            <a:off x="4178808" y="2048256"/>
            <a:ext cx="2651760" cy="377952"/>
          </a:xfrm>
          <a:prstGeom prst="rect">
            <a:avLst/>
          </a:prstGeom>
          <a:noFill/>
        </p:spPr>
        <p:txBody>
          <a:bodyPr wrap="none" lIns="0" rIns="0" tIns="0" bIns="0" anchor="t">
            <a:noAutofit/>
          </a:bodyPr>
          <a:lstStyle/>
          <a:p>
            <a:pPr algn="l">
              <a:lnSpc>
                <a:spcPct val="110000"/>
              </a:lnSpc>
              <a:spcBef>
                <a:spcPts val="0"/>
              </a:spcBef>
              <a:spcAft>
                <a:spcPts val="0"/>
              </a:spcAft>
              <a:defRPr sz="2400" b="1">
                <a:solidFill>
                  <a:srgbClr val="0D5E4F"/>
                </a:solidFill>
                <a:latin typeface="Arial"/>
              </a:defRPr>
            </a:pPr>
            <a:r>
              <a:t>2 Plan</a:t>
            </a:r>
          </a:p>
        </p:txBody>
      </p:sp>
      <p:sp>
        <p:nvSpPr>
          <p:cNvPr id="21" name="Panel shows the fixed plan and deadline."/>
          <p:cNvSpPr txBox="1"/>
          <p:nvPr/>
        </p:nvSpPr>
        <p:spPr>
          <a:xfrm>
            <a:off x="4178808" y="2590800"/>
            <a:ext cx="2651760" cy="1176528"/>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Panel shows the</a:t>
            </a:r>
          </a:p>
          <a:p>
            <a:pPr algn="l">
              <a:lnSpc>
                <a:spcPct val="110000"/>
              </a:lnSpc>
              <a:spcBef>
                <a:spcPts val="0"/>
              </a:spcBef>
              <a:spcAft>
                <a:spcPts val="0"/>
              </a:spcAft>
              <a:defRPr sz="2200" b="0">
                <a:solidFill>
                  <a:srgbClr val="1B2230"/>
                </a:solidFill>
                <a:latin typeface="Arial"/>
              </a:defRPr>
            </a:pPr>
            <a:r>
              <a:t>fixed plan and</a:t>
            </a:r>
          </a:p>
          <a:p>
            <a:pPr algn="l">
              <a:lnSpc>
                <a:spcPct val="110000"/>
              </a:lnSpc>
              <a:spcBef>
                <a:spcPts val="0"/>
              </a:spcBef>
              <a:spcAft>
                <a:spcPts val="0"/>
              </a:spcAft>
              <a:defRPr sz="2200" b="0">
                <a:solidFill>
                  <a:srgbClr val="1B2230"/>
                </a:solidFill>
                <a:latin typeface="Arial"/>
              </a:defRPr>
            </a:pPr>
            <a:r>
              <a:t>deadline.</a:t>
            </a:r>
          </a:p>
        </p:txBody>
      </p:sp>
      <p:sp>
        <p:nvSpPr>
          <p:cNvPr id="22" name="3  Read-back"/>
          <p:cNvSpPr/>
          <p:nvPr/>
        </p:nvSpPr>
        <p:spPr>
          <a:xfrm>
            <a:off x="7443216" y="1901952"/>
            <a:ext cx="3017520" cy="1975104"/>
          </a:xfrm>
          <a:prstGeom prst="rect">
            <a:avLst/>
          </a:prstGeom>
          <a:solidFill>
            <a:srgbClr val="E3ECFC"/>
          </a:solidFill>
          <a:ln w="19050">
            <a:solidFill>
              <a:srgbClr val="0052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3  Read-back"/>
          <p:cNvSpPr txBox="1"/>
          <p:nvPr/>
        </p:nvSpPr>
        <p:spPr>
          <a:xfrm>
            <a:off x="7626096" y="2048256"/>
            <a:ext cx="2651760" cy="377952"/>
          </a:xfrm>
          <a:prstGeom prst="rect">
            <a:avLst/>
          </a:prstGeom>
          <a:noFill/>
        </p:spPr>
        <p:txBody>
          <a:bodyPr wrap="none" lIns="0" rIns="0" tIns="0" bIns="0" anchor="t">
            <a:noAutofit/>
          </a:bodyPr>
          <a:lstStyle/>
          <a:p>
            <a:pPr algn="l">
              <a:lnSpc>
                <a:spcPct val="110000"/>
              </a:lnSpc>
              <a:spcBef>
                <a:spcPts val="0"/>
              </a:spcBef>
              <a:spcAft>
                <a:spcPts val="0"/>
              </a:spcAft>
              <a:defRPr sz="2400" b="1">
                <a:solidFill>
                  <a:srgbClr val="0052D9"/>
                </a:solidFill>
                <a:latin typeface="Arial"/>
              </a:defRPr>
            </a:pPr>
            <a:r>
              <a:t>3 Read-back</a:t>
            </a:r>
          </a:p>
        </p:txBody>
      </p:sp>
      <p:sp>
        <p:nvSpPr>
          <p:cNvPr id="24" name="Panel shows saved words, phrases and comparison."/>
          <p:cNvSpPr txBox="1"/>
          <p:nvPr/>
        </p:nvSpPr>
        <p:spPr>
          <a:xfrm>
            <a:off x="7626096" y="2590800"/>
            <a:ext cx="2651760" cy="1176528"/>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Panel shows saved</a:t>
            </a:r>
          </a:p>
          <a:p>
            <a:pPr algn="l">
              <a:lnSpc>
                <a:spcPct val="110000"/>
              </a:lnSpc>
              <a:spcBef>
                <a:spcPts val="0"/>
              </a:spcBef>
              <a:spcAft>
                <a:spcPts val="0"/>
              </a:spcAft>
              <a:defRPr sz="2200" b="0">
                <a:solidFill>
                  <a:srgbClr val="1B2230"/>
                </a:solidFill>
                <a:latin typeface="Arial"/>
              </a:defRPr>
            </a:pPr>
            <a:r>
              <a:t>words, phrases and</a:t>
            </a:r>
          </a:p>
          <a:p>
            <a:pPr algn="l">
              <a:lnSpc>
                <a:spcPct val="110000"/>
              </a:lnSpc>
              <a:spcBef>
                <a:spcPts val="0"/>
              </a:spcBef>
              <a:spcAft>
                <a:spcPts val="0"/>
              </a:spcAft>
              <a:defRPr sz="2200" b="0">
                <a:solidFill>
                  <a:srgbClr val="1B2230"/>
                </a:solidFill>
                <a:latin typeface="Arial"/>
              </a:defRPr>
            </a:pPr>
            <a:r>
              <a:t>comparison.</a:t>
            </a:r>
          </a:p>
        </p:txBody>
      </p:sp>
      <p:sp>
        <p:nvSpPr>
          <p:cNvPr id="25" name="4  Difficulty"/>
          <p:cNvSpPr/>
          <p:nvPr/>
        </p:nvSpPr>
        <p:spPr>
          <a:xfrm>
            <a:off x="10890504" y="1901952"/>
            <a:ext cx="3017520" cy="1975104"/>
          </a:xfrm>
          <a:prstGeom prst="rect">
            <a:avLst/>
          </a:prstGeom>
          <a:solidFill>
            <a:srgbClr val="DCEFE9"/>
          </a:solidFill>
          <a:ln w="19050">
            <a:solidFill>
              <a:srgbClr val="0D5E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4  Difficulty"/>
          <p:cNvSpPr txBox="1"/>
          <p:nvPr/>
        </p:nvSpPr>
        <p:spPr>
          <a:xfrm>
            <a:off x="11073384" y="2048256"/>
            <a:ext cx="2651760" cy="377952"/>
          </a:xfrm>
          <a:prstGeom prst="rect">
            <a:avLst/>
          </a:prstGeom>
          <a:noFill/>
        </p:spPr>
        <p:txBody>
          <a:bodyPr wrap="none" lIns="0" rIns="0" tIns="0" bIns="0" anchor="t">
            <a:noAutofit/>
          </a:bodyPr>
          <a:lstStyle/>
          <a:p>
            <a:pPr algn="l">
              <a:lnSpc>
                <a:spcPct val="110000"/>
              </a:lnSpc>
              <a:spcBef>
                <a:spcPts val="0"/>
              </a:spcBef>
              <a:spcAft>
                <a:spcPts val="0"/>
              </a:spcAft>
              <a:defRPr sz="2400" b="1">
                <a:solidFill>
                  <a:srgbClr val="0D5E4F"/>
                </a:solidFill>
                <a:latin typeface="Arial"/>
              </a:defRPr>
            </a:pPr>
            <a:r>
              <a:t>4 Difficulty</a:t>
            </a:r>
          </a:p>
        </p:txBody>
      </p:sp>
      <p:sp>
        <p:nvSpPr>
          <p:cNvPr id="27" name="Panel shows the route code permits."/>
          <p:cNvSpPr txBox="1"/>
          <p:nvPr/>
        </p:nvSpPr>
        <p:spPr>
          <a:xfrm>
            <a:off x="11073384" y="2590800"/>
            <a:ext cx="2651760" cy="1176528"/>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Panel shows the</a:t>
            </a:r>
          </a:p>
          <a:p>
            <a:pPr algn="l">
              <a:lnSpc>
                <a:spcPct val="110000"/>
              </a:lnSpc>
              <a:spcBef>
                <a:spcPts val="0"/>
              </a:spcBef>
              <a:spcAft>
                <a:spcPts val="0"/>
              </a:spcAft>
              <a:defRPr sz="2200" b="0">
                <a:solidFill>
                  <a:srgbClr val="1B2230"/>
                </a:solidFill>
                <a:latin typeface="Arial"/>
              </a:defRPr>
            </a:pPr>
            <a:r>
              <a:t>route code permits.</a:t>
            </a:r>
          </a:p>
        </p:txBody>
      </p:sp>
      <p:sp>
        <p:nvSpPr>
          <p:cNvPr id="28" name="8  Nurse helpline"/>
          <p:cNvSpPr/>
          <p:nvPr/>
        </p:nvSpPr>
        <p:spPr>
          <a:xfrm>
            <a:off x="548640" y="5029200"/>
            <a:ext cx="3017520" cy="2148840"/>
          </a:xfrm>
          <a:prstGeom prst="rect">
            <a:avLst/>
          </a:prstGeom>
          <a:solidFill>
            <a:srgbClr val="DCEFE9"/>
          </a:solidFill>
          <a:ln w="19050">
            <a:solidFill>
              <a:srgbClr val="0D5E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8  Nurse helpline"/>
          <p:cNvSpPr txBox="1"/>
          <p:nvPr/>
        </p:nvSpPr>
        <p:spPr>
          <a:xfrm>
            <a:off x="731520" y="5175504"/>
            <a:ext cx="2651760" cy="349503"/>
          </a:xfrm>
          <a:prstGeom prst="rect">
            <a:avLst/>
          </a:prstGeom>
          <a:noFill/>
        </p:spPr>
        <p:txBody>
          <a:bodyPr wrap="none" lIns="0" rIns="0" tIns="0" bIns="0" anchor="t">
            <a:noAutofit/>
          </a:bodyPr>
          <a:lstStyle/>
          <a:p>
            <a:pPr algn="l">
              <a:lnSpc>
                <a:spcPct val="110000"/>
              </a:lnSpc>
              <a:spcBef>
                <a:spcPts val="0"/>
              </a:spcBef>
              <a:spcAft>
                <a:spcPts val="0"/>
              </a:spcAft>
              <a:defRPr sz="2200" b="1">
                <a:solidFill>
                  <a:srgbClr val="0D5E4F"/>
                </a:solidFill>
                <a:latin typeface="Arial"/>
              </a:defRPr>
            </a:pPr>
            <a:r>
              <a:t>8 Nurse helpline</a:t>
            </a:r>
          </a:p>
        </p:txBody>
      </p:sp>
      <p:sp>
        <p:nvSpPr>
          <p:cNvPr id="30" name="The fallback stays visible. No call is made."/>
          <p:cNvSpPr txBox="1"/>
          <p:nvPr/>
        </p:nvSpPr>
        <p:spPr>
          <a:xfrm>
            <a:off x="731520" y="5689600"/>
            <a:ext cx="2651760" cy="1378712"/>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The fallback stays</a:t>
            </a:r>
          </a:p>
          <a:p>
            <a:pPr algn="l">
              <a:lnSpc>
                <a:spcPct val="110000"/>
              </a:lnSpc>
              <a:spcBef>
                <a:spcPts val="0"/>
              </a:spcBef>
              <a:spcAft>
                <a:spcPts val="0"/>
              </a:spcAft>
              <a:defRPr sz="2200" b="0">
                <a:solidFill>
                  <a:srgbClr val="1B2230"/>
                </a:solidFill>
                <a:latin typeface="Arial"/>
              </a:defRPr>
            </a:pPr>
            <a:r>
              <a:t>visible. No call is</a:t>
            </a:r>
          </a:p>
          <a:p>
            <a:pPr algn="l">
              <a:lnSpc>
                <a:spcPct val="110000"/>
              </a:lnSpc>
              <a:spcBef>
                <a:spcPts val="0"/>
              </a:spcBef>
              <a:spcAft>
                <a:spcPts val="0"/>
              </a:spcAft>
              <a:defRPr sz="2200" b="0">
                <a:solidFill>
                  <a:srgbClr val="1B2230"/>
                </a:solidFill>
                <a:latin typeface="Arial"/>
              </a:defRPr>
            </a:pPr>
            <a:r>
              <a:t>made.</a:t>
            </a:r>
          </a:p>
        </p:txBody>
      </p:sp>
      <p:sp>
        <p:nvSpPr>
          <p:cNvPr id="31" name="7  Failure - simulated"/>
          <p:cNvSpPr/>
          <p:nvPr/>
        </p:nvSpPr>
        <p:spPr>
          <a:xfrm>
            <a:off x="3995928" y="5029200"/>
            <a:ext cx="3017520" cy="2148840"/>
          </a:xfrm>
          <a:prstGeom prst="rect">
            <a:avLst/>
          </a:prstGeom>
          <a:pattFill prst="ltDnDiag">
            <a:fgClr>
              <a:srgbClr val="E3E6E2"/>
            </a:fgClr>
            <a:bgClr>
              <a:srgbClr val="F3F5F2"/>
            </a:bgClr>
          </a:pattFill>
          <a:ln w="19050">
            <a:solidFill>
              <a:srgbClr val="4F586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7  Failure - simulated"/>
          <p:cNvSpPr txBox="1"/>
          <p:nvPr/>
        </p:nvSpPr>
        <p:spPr>
          <a:xfrm>
            <a:off x="4178808" y="5175504"/>
            <a:ext cx="2651760" cy="662432"/>
          </a:xfrm>
          <a:prstGeom prst="rect">
            <a:avLst/>
          </a:prstGeom>
          <a:noFill/>
        </p:spPr>
        <p:txBody>
          <a:bodyPr wrap="none" lIns="0" rIns="0" tIns="0" bIns="0" anchor="t">
            <a:noAutofit/>
          </a:bodyPr>
          <a:lstStyle/>
          <a:p>
            <a:pPr algn="l">
              <a:lnSpc>
                <a:spcPct val="110000"/>
              </a:lnSpc>
              <a:spcBef>
                <a:spcPts val="0"/>
              </a:spcBef>
              <a:spcAft>
                <a:spcPts val="0"/>
              </a:spcAft>
              <a:defRPr sz="2200" b="1">
                <a:solidFill>
                  <a:srgbClr val="1B2230"/>
                </a:solidFill>
                <a:latin typeface="Arial"/>
              </a:defRPr>
            </a:pPr>
            <a:r>
              <a:t>7 Failure -</a:t>
            </a:r>
          </a:p>
          <a:p>
            <a:pPr algn="l">
              <a:lnSpc>
                <a:spcPct val="110000"/>
              </a:lnSpc>
              <a:spcBef>
                <a:spcPts val="0"/>
              </a:spcBef>
              <a:spcAft>
                <a:spcPts val="0"/>
              </a:spcAft>
              <a:defRPr sz="2200" b="1">
                <a:solidFill>
                  <a:srgbClr val="1B2230"/>
                </a:solidFill>
                <a:latin typeface="Arial"/>
              </a:defRPr>
            </a:pPr>
            <a:r>
              <a:t>simulated</a:t>
            </a:r>
          </a:p>
        </p:txBody>
      </p:sp>
      <p:sp>
        <p:nvSpPr>
          <p:cNvPr id="33" name="Panel: The booking failed.&#10;Case stays open."/>
          <p:cNvSpPr txBox="1"/>
          <p:nvPr/>
        </p:nvSpPr>
        <p:spPr>
          <a:xfrm>
            <a:off x="4178808" y="6002527"/>
            <a:ext cx="2651760" cy="1065784"/>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Panel: The booking</a:t>
            </a:r>
          </a:p>
          <a:p>
            <a:pPr algn="l">
              <a:lnSpc>
                <a:spcPct val="110000"/>
              </a:lnSpc>
              <a:spcBef>
                <a:spcPts val="0"/>
              </a:spcBef>
              <a:spcAft>
                <a:spcPts val="0"/>
              </a:spcAft>
              <a:defRPr sz="2200" b="0">
                <a:solidFill>
                  <a:srgbClr val="1B2230"/>
                </a:solidFill>
                <a:latin typeface="Arial"/>
              </a:defRPr>
            </a:pPr>
            <a:r>
              <a:t>failed.</a:t>
            </a:r>
          </a:p>
          <a:p>
            <a:pPr algn="l">
              <a:lnSpc>
                <a:spcPct val="110000"/>
              </a:lnSpc>
              <a:spcBef>
                <a:spcPts val="0"/>
              </a:spcBef>
              <a:spcAft>
                <a:spcPts val="0"/>
              </a:spcAft>
              <a:defRPr sz="2200" b="0">
                <a:solidFill>
                  <a:srgbClr val="1B2230"/>
                </a:solidFill>
                <a:latin typeface="Arial"/>
              </a:defRPr>
            </a:pPr>
            <a:r>
              <a:t>Case stays open.</a:t>
            </a:r>
          </a:p>
        </p:txBody>
      </p:sp>
      <p:sp>
        <p:nvSpPr>
          <p:cNvPr id="34" name="6  Request - simulated"/>
          <p:cNvSpPr/>
          <p:nvPr/>
        </p:nvSpPr>
        <p:spPr>
          <a:xfrm>
            <a:off x="7443216" y="5029200"/>
            <a:ext cx="3017520" cy="2148840"/>
          </a:xfrm>
          <a:prstGeom prst="rect">
            <a:avLst/>
          </a:prstGeom>
          <a:pattFill prst="ltDnDiag">
            <a:fgClr>
              <a:srgbClr val="E3E6E2"/>
            </a:fgClr>
            <a:bgClr>
              <a:srgbClr val="F3F5F2"/>
            </a:bgClr>
          </a:pattFill>
          <a:ln w="19050">
            <a:solidFill>
              <a:srgbClr val="4F586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6  Request - simulated"/>
          <p:cNvSpPr txBox="1"/>
          <p:nvPr/>
        </p:nvSpPr>
        <p:spPr>
          <a:xfrm>
            <a:off x="7626096" y="5175504"/>
            <a:ext cx="2651760" cy="662432"/>
          </a:xfrm>
          <a:prstGeom prst="rect">
            <a:avLst/>
          </a:prstGeom>
          <a:noFill/>
        </p:spPr>
        <p:txBody>
          <a:bodyPr wrap="none" lIns="0" rIns="0" tIns="0" bIns="0" anchor="t">
            <a:noAutofit/>
          </a:bodyPr>
          <a:lstStyle/>
          <a:p>
            <a:pPr algn="l">
              <a:lnSpc>
                <a:spcPct val="110000"/>
              </a:lnSpc>
              <a:spcBef>
                <a:spcPts val="0"/>
              </a:spcBef>
              <a:spcAft>
                <a:spcPts val="0"/>
              </a:spcAft>
              <a:defRPr sz="2200" b="1">
                <a:solidFill>
                  <a:srgbClr val="1B2230"/>
                </a:solidFill>
                <a:latin typeface="Arial"/>
              </a:defRPr>
            </a:pPr>
            <a:r>
              <a:t>6 Request -</a:t>
            </a:r>
          </a:p>
          <a:p>
            <a:pPr algn="l">
              <a:lnSpc>
                <a:spcPct val="110000"/>
              </a:lnSpc>
              <a:spcBef>
                <a:spcPts val="0"/>
              </a:spcBef>
              <a:spcAft>
                <a:spcPts val="0"/>
              </a:spcAft>
              <a:defRPr sz="2200" b="1">
                <a:solidFill>
                  <a:srgbClr val="1B2230"/>
                </a:solidFill>
                <a:latin typeface="Arial"/>
              </a:defRPr>
            </a:pPr>
            <a:r>
              <a:t>simulated</a:t>
            </a:r>
          </a:p>
        </p:txBody>
      </p:sp>
      <p:sp>
        <p:nvSpPr>
          <p:cNvPr id="36" name="Panel: No reply yet.&#10;Separate callback."/>
          <p:cNvSpPr txBox="1"/>
          <p:nvPr/>
        </p:nvSpPr>
        <p:spPr>
          <a:xfrm>
            <a:off x="7626096" y="6002527"/>
            <a:ext cx="2651760" cy="1065784"/>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Panel: No reply yet.</a:t>
            </a:r>
          </a:p>
          <a:p>
            <a:pPr algn="l">
              <a:lnSpc>
                <a:spcPct val="110000"/>
              </a:lnSpc>
              <a:spcBef>
                <a:spcPts val="0"/>
              </a:spcBef>
              <a:spcAft>
                <a:spcPts val="0"/>
              </a:spcAft>
              <a:defRPr sz="2200" b="0">
                <a:solidFill>
                  <a:srgbClr val="1B2230"/>
                </a:solidFill>
                <a:latin typeface="Arial"/>
              </a:defRPr>
            </a:pPr>
            <a:r>
              <a:t>Separate callback.</a:t>
            </a:r>
          </a:p>
        </p:txBody>
      </p:sp>
      <p:sp>
        <p:nvSpPr>
          <p:cNvPr id="37" name="5  Consent"/>
          <p:cNvSpPr/>
          <p:nvPr/>
        </p:nvSpPr>
        <p:spPr>
          <a:xfrm>
            <a:off x="10890504" y="5029200"/>
            <a:ext cx="3017520" cy="2148840"/>
          </a:xfrm>
          <a:prstGeom prst="rect">
            <a:avLst/>
          </a:prstGeom>
          <a:solidFill>
            <a:srgbClr val="DCEFE9"/>
          </a:solidFill>
          <a:ln w="19050">
            <a:solidFill>
              <a:srgbClr val="0D5E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5  Consent"/>
          <p:cNvSpPr txBox="1"/>
          <p:nvPr/>
        </p:nvSpPr>
        <p:spPr>
          <a:xfrm>
            <a:off x="11073384" y="5175504"/>
            <a:ext cx="2651760" cy="349503"/>
          </a:xfrm>
          <a:prstGeom prst="rect">
            <a:avLst/>
          </a:prstGeom>
          <a:noFill/>
        </p:spPr>
        <p:txBody>
          <a:bodyPr wrap="none" lIns="0" rIns="0" tIns="0" bIns="0" anchor="t">
            <a:noAutofit/>
          </a:bodyPr>
          <a:lstStyle/>
          <a:p>
            <a:pPr algn="l">
              <a:lnSpc>
                <a:spcPct val="110000"/>
              </a:lnSpc>
              <a:spcBef>
                <a:spcPts val="0"/>
              </a:spcBef>
              <a:spcAft>
                <a:spcPts val="0"/>
              </a:spcAft>
              <a:defRPr sz="2200" b="1">
                <a:solidFill>
                  <a:srgbClr val="0D5E4F"/>
                </a:solidFill>
                <a:latin typeface="Arial"/>
              </a:defRPr>
            </a:pPr>
            <a:r>
              <a:t>5 Consent</a:t>
            </a:r>
          </a:p>
        </p:txBody>
      </p:sp>
      <p:sp>
        <p:nvSpPr>
          <p:cNvPr id="39" name="Permission is its own step. It is checked before dispat"/>
          <p:cNvSpPr txBox="1"/>
          <p:nvPr/>
        </p:nvSpPr>
        <p:spPr>
          <a:xfrm>
            <a:off x="11073384" y="5689600"/>
            <a:ext cx="2651760" cy="1378712"/>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1B2230"/>
                </a:solidFill>
                <a:latin typeface="Arial"/>
              </a:defRPr>
            </a:pPr>
            <a:r>
              <a:t>Permission is its</a:t>
            </a:r>
          </a:p>
          <a:p>
            <a:pPr algn="l">
              <a:lnSpc>
                <a:spcPct val="110000"/>
              </a:lnSpc>
              <a:spcBef>
                <a:spcPts val="0"/>
              </a:spcBef>
              <a:spcAft>
                <a:spcPts val="0"/>
              </a:spcAft>
              <a:defRPr sz="2200" b="0">
                <a:solidFill>
                  <a:srgbClr val="1B2230"/>
                </a:solidFill>
                <a:latin typeface="Arial"/>
              </a:defRPr>
            </a:pPr>
            <a:r>
              <a:t>own step. It is</a:t>
            </a:r>
          </a:p>
          <a:p>
            <a:pPr algn="l">
              <a:lnSpc>
                <a:spcPct val="110000"/>
              </a:lnSpc>
              <a:spcBef>
                <a:spcPts val="0"/>
              </a:spcBef>
              <a:spcAft>
                <a:spcPts val="0"/>
              </a:spcAft>
              <a:defRPr sz="2200" b="0">
                <a:solidFill>
                  <a:srgbClr val="1B2230"/>
                </a:solidFill>
                <a:latin typeface="Arial"/>
              </a:defRPr>
            </a:pPr>
            <a:r>
              <a:t>checked before</a:t>
            </a:r>
          </a:p>
          <a:p>
            <a:pPr algn="l">
              <a:lnSpc>
                <a:spcPct val="110000"/>
              </a:lnSpc>
              <a:spcBef>
                <a:spcPts val="0"/>
              </a:spcBef>
              <a:spcAft>
                <a:spcPts val="0"/>
              </a:spcAft>
              <a:defRPr sz="2200" b="0">
                <a:solidFill>
                  <a:srgbClr val="1B2230"/>
                </a:solidFill>
                <a:latin typeface="Arial"/>
              </a:defRPr>
            </a:pPr>
            <a:r>
              <a:t>dispatch.</a:t>
            </a:r>
          </a:p>
        </p:txBody>
      </p:sp>
      <p:sp>
        <p:nvSpPr>
          <p:cNvPr id="40" name="Refusal branch at read-back: clinical questions or inje"/>
          <p:cNvSpPr txBox="1"/>
          <p:nvPr/>
        </p:nvSpPr>
        <p:spPr>
          <a:xfrm>
            <a:off x="640080" y="4096512"/>
            <a:ext cx="13167360" cy="786384"/>
          </a:xfrm>
          <a:prstGeom prst="rect">
            <a:avLst/>
          </a:prstGeom>
          <a:noFill/>
        </p:spPr>
        <p:txBody>
          <a:bodyPr wrap="none" lIns="0" rIns="0" tIns="0" bIns="0" anchor="t">
            <a:noAutofit/>
          </a:bodyPr>
          <a:lstStyle/>
          <a:p>
            <a:pPr algn="l">
              <a:lnSpc>
                <a:spcPct val="110000"/>
              </a:lnSpc>
              <a:spcBef>
                <a:spcPts val="0"/>
              </a:spcBef>
              <a:spcAft>
                <a:spcPts val="0"/>
              </a:spcAft>
              <a:defRPr sz="2200" b="0">
                <a:solidFill>
                  <a:srgbClr val="B3261E"/>
                </a:solidFill>
                <a:latin typeface="Arial"/>
              </a:defRPr>
            </a:pPr>
            <a:r>
              <a:t>Refusal branch at read-back: clinical questions or injected instructions stay unscored.</a:t>
            </a:r>
          </a:p>
          <a:p>
            <a:pPr algn="l">
              <a:lnSpc>
                <a:spcPct val="110000"/>
              </a:lnSpc>
              <a:spcBef>
                <a:spcPts val="0"/>
              </a:spcBef>
              <a:spcAft>
                <a:spcPts val="0"/>
              </a:spcAft>
              <a:defRPr sz="2200" b="0">
                <a:solidFill>
                  <a:srgbClr val="B3261E"/>
                </a:solidFill>
                <a:latin typeface="Arial"/>
              </a:defRPr>
            </a:pPr>
            <a:r>
              <a:t>The patient can revise the words. Guard refusal appears as Not sent to Tencent ADP.</a:t>
            </a:r>
          </a:p>
        </p:txBody>
      </p:sp>
      <p:sp>
        <p:nvSpPr>
          <p:cNvPr id="41" name="Reload reads the same episode. The panel never creates "/>
          <p:cNvSpPr txBox="1"/>
          <p:nvPr/>
        </p:nvSpPr>
        <p:spPr>
          <a:xfrm>
            <a:off x="640080" y="7315200"/>
            <a:ext cx="13258800" cy="365760"/>
          </a:xfrm>
          <a:prstGeom prst="rect">
            <a:avLst/>
          </a:prstGeom>
          <a:noFill/>
        </p:spPr>
        <p:txBody>
          <a:bodyPr wrap="none" lIns="0" rIns="0" tIns="0" bIns="0" anchor="t">
            <a:noAutofit/>
          </a:bodyPr>
          <a:lstStyle/>
          <a:p>
            <a:pPr algn="l">
              <a:lnSpc>
                <a:spcPct val="110000"/>
              </a:lnSpc>
              <a:spcBef>
                <a:spcPts val="0"/>
              </a:spcBef>
              <a:spcAft>
                <a:spcPts val="0"/>
              </a:spcAft>
              <a:defRPr sz="2000" b="0">
                <a:solidFill>
                  <a:srgbClr val="4F5866"/>
                </a:solidFill>
                <a:latin typeface="Arial"/>
              </a:defRPr>
            </a:pPr>
            <a:r>
              <a:t>Reload reads the same episode. The panel never creates a plan, starts a check or records a callback.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CareRelay: architecture</dc:title>
  <dc:subject>Challenge 1 architecture, trust boundaries and key design trade-offs</dc:subject>
  <dc:creator>CareRelay</dc:creator>
  <cp:keywords>CareRelay, architecture, fictional demonstration, trust boundaries</cp:keywords>
  <dc:description>Source citations and qualifications are in each slide speaker notes.</dc:description>
  <cp:lastModifiedBy>Steve Canny</cp:lastModifiedBy>
  <cp:revision>1</cp:revision>
  <dcterms:created xsi:type="dcterms:W3CDTF">2013-01-27T09:14:16Z</dcterms:created>
  <dcterms:modified xsi:type="dcterms:W3CDTF">2013-01-27T09:15:58Z</dcterms:modified>
  <cp:category/>
</cp:coreProperties>
</file>